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41307af73f4377" /><Relationship Type="http://schemas.openxmlformats.org/officeDocument/2006/relationships/extended-properties" Target="/docProps/app.xml" Id="R8415de41bb444ea4" /><Relationship Type="http://schemas.openxmlformats.org/officeDocument/2006/relationships/officeDocument" Target="/ppt/presentation.xml" Id="Re486747678a9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9fbe0da3834a9c"/>
  </p:sldMasterIdLst>
  <p:notesMasterIdLst>
    <p:notesMasterId xmlns:r="http://schemas.openxmlformats.org/officeDocument/2006/relationships" r:id="Rdef75728f7d24d77"/>
  </p:notesMasterIdLst>
  <p:sldIdLst>
    <p:sldId xmlns:r="http://schemas.openxmlformats.org/officeDocument/2006/relationships" id="256" r:id="Rd8d1a3f391b64b5b"/>
    <p:sldId xmlns:r="http://schemas.openxmlformats.org/officeDocument/2006/relationships" id="257" r:id="R1c360d9ef5d94063"/>
    <p:sldId xmlns:r="http://schemas.openxmlformats.org/officeDocument/2006/relationships" id="258" r:id="Rd7a4069fd44e4240"/>
    <p:sldId xmlns:r="http://schemas.openxmlformats.org/officeDocument/2006/relationships" id="259" r:id="R48dc61b5ac1d4b41"/>
    <p:sldId xmlns:r="http://schemas.openxmlformats.org/officeDocument/2006/relationships" id="260" r:id="R9d5cf24a83ff4cf0"/>
    <p:sldId xmlns:r="http://schemas.openxmlformats.org/officeDocument/2006/relationships" id="261" r:id="R7e2cadbf689c4fa5"/>
    <p:sldId xmlns:r="http://schemas.openxmlformats.org/officeDocument/2006/relationships" id="262" r:id="R2d2db273d3ec4c41"/>
    <p:sldId xmlns:r="http://schemas.openxmlformats.org/officeDocument/2006/relationships" id="263" r:id="R2dcf2c5ae44446bf"/>
    <p:sldId xmlns:r="http://schemas.openxmlformats.org/officeDocument/2006/relationships" id="264" r:id="R5e36746ac6c944bc"/>
    <p:sldId xmlns:r="http://schemas.openxmlformats.org/officeDocument/2006/relationships" id="265" r:id="R40945fe220fe42ac"/>
    <p:sldId xmlns:r="http://schemas.openxmlformats.org/officeDocument/2006/relationships" id="266" r:id="Rb8a0a583a0394a07"/>
    <p:sldId xmlns:r="http://schemas.openxmlformats.org/officeDocument/2006/relationships" id="267" r:id="R073b24943da04cd6"/>
    <p:sldId xmlns:r="http://schemas.openxmlformats.org/officeDocument/2006/relationships" id="268" r:id="R53e09dbdf0d845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bea89a6013429e" /><Relationship Type="http://schemas.openxmlformats.org/officeDocument/2006/relationships/slideMaster" Target="/ppt/slideMasters/slideMaster1.xml" Id="R239fbe0da3834a9c" /><Relationship Type="http://schemas.openxmlformats.org/officeDocument/2006/relationships/notesMaster" Target="/ppt/notesMasters/notesMaster1.xml" Id="Rdef75728f7d24d77" /><Relationship Type="http://schemas.openxmlformats.org/officeDocument/2006/relationships/presProps" Target="/ppt/presProps.xml" Id="R4512ef156c14441c" /><Relationship Type="http://schemas.openxmlformats.org/officeDocument/2006/relationships/tableStyles" Target="/ppt/tableStyles.xml" Id="Rb08051f9115a43b6" /><Relationship Type="http://schemas.openxmlformats.org/officeDocument/2006/relationships/slide" Target="/ppt/slides/slide1.xml" Id="Rd8d1a3f391b64b5b" /><Relationship Type="http://schemas.openxmlformats.org/officeDocument/2006/relationships/slide" Target="/ppt/slides/slide2.xml" Id="R1c360d9ef5d94063" /><Relationship Type="http://schemas.openxmlformats.org/officeDocument/2006/relationships/slide" Target="/ppt/slides/slide3.xml" Id="Rd7a4069fd44e4240" /><Relationship Type="http://schemas.openxmlformats.org/officeDocument/2006/relationships/slide" Target="/ppt/slides/slide4.xml" Id="R48dc61b5ac1d4b41" /><Relationship Type="http://schemas.openxmlformats.org/officeDocument/2006/relationships/slide" Target="/ppt/slides/slide5.xml" Id="R9d5cf24a83ff4cf0" /><Relationship Type="http://schemas.openxmlformats.org/officeDocument/2006/relationships/slide" Target="/ppt/slides/slide6.xml" Id="R7e2cadbf689c4fa5" /><Relationship Type="http://schemas.openxmlformats.org/officeDocument/2006/relationships/slide" Target="/ppt/slides/slide7.xml" Id="R2d2db273d3ec4c41" /><Relationship Type="http://schemas.openxmlformats.org/officeDocument/2006/relationships/slide" Target="/ppt/slides/slide8.xml" Id="R2dcf2c5ae44446bf" /><Relationship Type="http://schemas.openxmlformats.org/officeDocument/2006/relationships/slide" Target="/ppt/slides/slide9.xml" Id="R5e36746ac6c944bc" /><Relationship Type="http://schemas.openxmlformats.org/officeDocument/2006/relationships/slide" Target="/ppt/slides/slide10.xml" Id="R40945fe220fe42ac" /><Relationship Type="http://schemas.openxmlformats.org/officeDocument/2006/relationships/slide" Target="/ppt/slides/slide11.xml" Id="Rb8a0a583a0394a07" /><Relationship Type="http://schemas.openxmlformats.org/officeDocument/2006/relationships/slide" Target="/ppt/slides/slide12.xml" Id="R073b24943da04cd6" /><Relationship Type="http://schemas.openxmlformats.org/officeDocument/2006/relationships/slide" Target="/ppt/slides/slide13.xml" Id="R53e09dbdf0d845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e6cc0d8fac4b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df984e2623432d" /><Relationship Type="http://schemas.openxmlformats.org/officeDocument/2006/relationships/notesMaster" Target="/ppt/notesMasters/notesMaster1.xml" Id="R4a3c2444a66046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5e376c9f2c4bd4" /><Relationship Type="http://schemas.openxmlformats.org/officeDocument/2006/relationships/notesMaster" Target="/ppt/notesMasters/notesMaster1.xml" Id="R468e593df94a4f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9320b3ae8149ac" /><Relationship Type="http://schemas.openxmlformats.org/officeDocument/2006/relationships/notesMaster" Target="/ppt/notesMasters/notesMaster1.xml" Id="R9f7f152d387347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fb43d3c546485d" /><Relationship Type="http://schemas.openxmlformats.org/officeDocument/2006/relationships/notesMaster" Target="/ppt/notesMasters/notesMaster1.xml" Id="Rc8ba913b332248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ba6cfee1904143" /><Relationship Type="http://schemas.openxmlformats.org/officeDocument/2006/relationships/notesMaster" Target="/ppt/notesMasters/notesMaster1.xml" Id="R1620a1aba6664a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081363e4b9464f" /><Relationship Type="http://schemas.openxmlformats.org/officeDocument/2006/relationships/notesMaster" Target="/ppt/notesMasters/notesMaster1.xml" Id="R84b6c2ddbfd640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220d21843c4a19" /><Relationship Type="http://schemas.openxmlformats.org/officeDocument/2006/relationships/notesMaster" Target="/ppt/notesMasters/notesMaster1.xml" Id="R979a0a2bc15543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e69d8b0a1f54960" /><Relationship Type="http://schemas.openxmlformats.org/officeDocument/2006/relationships/notesMaster" Target="/ppt/notesMasters/notesMaster1.xml" Id="R2efc8d20c97449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b96c97ccadc4bd8" /><Relationship Type="http://schemas.openxmlformats.org/officeDocument/2006/relationships/notesMaster" Target="/ppt/notesMasters/notesMaster1.xml" Id="R53498418f8de45d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3ecf44bc9e8440b" /><Relationship Type="http://schemas.openxmlformats.org/officeDocument/2006/relationships/notesMaster" Target="/ppt/notesMasters/notesMaster1.xml" Id="R658d83beb50849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2ca5fa41a44fca" /><Relationship Type="http://schemas.openxmlformats.org/officeDocument/2006/relationships/notesMaster" Target="/ppt/notesMasters/notesMaster1.xml" Id="R76079be6eb23429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b616ee5be944cbc" /><Relationship Type="http://schemas.openxmlformats.org/officeDocument/2006/relationships/notesMaster" Target="/ppt/notesMasters/notesMaster1.xml" Id="R0ae668fbfaf642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cd20503e77f4523" /><Relationship Type="http://schemas.openxmlformats.org/officeDocument/2006/relationships/notesMaster" Target="/ppt/notesMasters/notesMaster1.xml" Id="R2c415274184745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Prototype interaction design. 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Wellbeing Nutrition product page payment and stock widgets observed during assignment review. 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Wellbeing Nutrition catalogue pricing as observed during assignment review. Prices require live validation. 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Wellbeing Nutrition Korean Marine Collagen product page, accessed for this assignment; W3C WCAG 2.2 Target Size and Reflow guidance. All conversion outcomes are hypotheses to validate through experimentation.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b2c009bf59492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fac5f462ce6473b" /><Relationship Type="http://schemas.openxmlformats.org/officeDocument/2006/relationships/slideLayout" Target="/ppt/slideLayouts/slideLayout1.xml" Id="R2059b91fd11a44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59b91fd11a44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e7bc9226234eaa" /><Relationship Type="http://schemas.openxmlformats.org/officeDocument/2006/relationships/image" Target="/ppt/media/image.jpeg" Id="Rd456fc73377941a6" /><Relationship Type="http://schemas.openxmlformats.org/officeDocument/2006/relationships/notesSlide" Target="/ppt/notesSlides/notesSlide1.xml" Id="R3447136b054447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2882074844dd8" /><Relationship Type="http://schemas.openxmlformats.org/officeDocument/2006/relationships/notesSlide" Target="/ppt/notesSlides/notesSlide2.xml" Id="R541e3a9b8f9940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1c319d0c14308" /><Relationship Type="http://schemas.openxmlformats.org/officeDocument/2006/relationships/notesSlide" Target="/ppt/notesSlides/notesSlide3.xml" Id="Rb907cfde462b4a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7df1f91f934e15" /><Relationship Type="http://schemas.openxmlformats.org/officeDocument/2006/relationships/notesSlide" Target="/ppt/notesSlides/notesSlide4.xml" Id="R587b4d8a433c47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f96ba69f44974" /><Relationship Type="http://schemas.openxmlformats.org/officeDocument/2006/relationships/notesSlide" Target="/ppt/notesSlides/notesSlide5.xml" Id="R4273cbdb3d664b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b64de4f804088" /><Relationship Type="http://schemas.openxmlformats.org/officeDocument/2006/relationships/notesSlide" Target="/ppt/notesSlides/notesSlide6.xml" Id="Rc0ca47bd6ffb47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5dfc2ca32a47fa" /><Relationship Type="http://schemas.openxmlformats.org/officeDocument/2006/relationships/notesSlide" Target="/ppt/notesSlides/notesSlide7.xml" Id="Rd42184b2989c4c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f961699fe4597" /><Relationship Type="http://schemas.openxmlformats.org/officeDocument/2006/relationships/notesSlide" Target="/ppt/notesSlides/notesSlide8.xml" Id="R8a28b2648d624d7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c3768c2714e21" /><Relationship Type="http://schemas.openxmlformats.org/officeDocument/2006/relationships/notesSlide" Target="/ppt/notesSlides/notesSlide9.xml" Id="R8113e2f2d34945e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2b685baee4e74" /><Relationship Type="http://schemas.openxmlformats.org/officeDocument/2006/relationships/notesSlide" Target="/ppt/notesSlides/notesSlide10.xml" Id="Racb578bcfdb342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f40cdb6f64af4" /><Relationship Type="http://schemas.openxmlformats.org/officeDocument/2006/relationships/notesSlide" Target="/ppt/notesSlides/notesSlide11.xml" Id="R93eeac939f854cb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d152ab31840ed" /><Relationship Type="http://schemas.openxmlformats.org/officeDocument/2006/relationships/notesSlide" Target="/ppt/notesSlides/notesSlide12.xml" Id="Race2b236955a40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fee2f290464b4a" /><Relationship Type="http://schemas.openxmlformats.org/officeDocument/2006/relationships/notesSlide" Target="/ppt/notesSlides/notesSlide13.xml" Id="Ree357e6eb5c041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A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3E546-215C-46D9-BD05-E3A03968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E1B76-976B-413F-B18C-841DDCC3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76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A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C395A-DC72-4FE3-B598-B97DE679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7315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EA7C4-1AA9-4141-96D0-A0C3713E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Wellbeing Nutrition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C3C0A-CFAF-4342-8231-FAD363DBA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People do judge</a:t>
            </a:r>
          </a:p>
          <a:p xmlns:a="http://schemas.openxmlformats.org/drawingml/2006/main">
            <a:pPr algn="l">
              <a:defRPr sz="42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 book by</a:t>
            </a:r>
          </a:p>
          <a:p xmlns:a="http://schemas.openxmlformats.org/drawingml/2006/main">
            <a:pPr algn="l">
              <a:defRPr sz="42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its 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CDA292-0938-4213-B34B-007D7E5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3619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A conversion rate optimisation proposal for Korean Marine Collagen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0E094-D019-490E-964D-879D78A2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361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A product page that earns belief before it asks for a purchase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56fc73377941a6"/>
          <a:stretch xmlns:a="http://schemas.openxmlformats.org/drawingml/2006/main"/>
        </p:blipFill>
        <p:spPr>
          <a:xfrm xmlns:a="http://schemas.openxmlformats.org/drawingml/2006/main">
            <a:off x="6572250" y="1114425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E2E2C-5008-4E77-9AB2-11FE874C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0769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C7DED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7DEDA"/>
                </a:solidFill>
                <a:latin typeface="Arial"/>
                <a:ea typeface="Arial"/>
                <a:cs typeface="Arial"/>
              </a:rPr>
              <a:t>CRO proposal ·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384487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3B96F-3E53-4342-9896-CB953123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conversion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72AD7-A14E-4085-97B8-DD74E536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05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product has credible reasons to buy. The page makes shoppers work too hard to find, trust and act on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98FB6-AC6B-4CDA-BEFF-C764459F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E4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0C1B1-D784-490B-9445-58D01FC6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AE108-754E-44CB-9DC6-CECE2153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Belief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E13CF4-B1A0-49C9-B3A3-80DEB0B7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Claims, proof and product cues sit too far apart.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B0ADD-1D29-4F2B-90C3-606E292D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766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434EA9-02BD-4B19-8C24-6ED6C53E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76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D2E464-A972-41C6-971A-5A3D8436A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867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Effort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4F986-8520-4AEB-8658-98991A49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Routine, payment and delivery decisions feel fragmented.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C9BDB-FDBF-4A46-AF45-03A1FD27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7660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A0AD1B-28B6-413D-8925-61D88E56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7660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5EAC78-E93D-4E0E-8BF5-EEC1397A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67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028F26-D081-46BC-8730-7C226717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page needs a calmer, premium signal at every buying moment.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F8520-EB81-40E9-8C2C-D27FA158F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opportunity: translate product credibility into a quick, low-friction decision.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715B6-4DA5-406F-AE9E-25A0FA32F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732EC-6ABC-4EDB-9D04-3C8735CF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1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199177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1E94E7-82E6-499D-AF5D-30DA5BFE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Where the original buying journey loses momentum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41DEFB-A4D7-45DA-A716-CACBC5895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Observed on the current product page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0E905-DA43-4C76-AC45-F2BD9E7F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3FCA91-D850-4842-9D67-8CEB8AEE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562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proof is scattered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5FB61-3E67-4E1C-B05D-FA29E2F5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050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Benefits, ratings, clinical claims and product standards appear across separate moments.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5A8769-C231-4A0C-8585-1EDBC16D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B3F0B-B557-4352-B375-5C02D106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9FCB98-368F-4313-BC28-B1F6534A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purchase area asks too much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87797-E5DB-43B4-A608-C86D4B04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718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Price, pack choice, delivery and payment options compete for attention.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C61CA-8792-4D95-8A96-AFD6FC62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B7AD3-C56C-4F0C-A8B1-BB6ED46F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B19FC-79B1-4E5E-8C0E-8D26C4BB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957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mobile experience feels dense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5FF2C0-47E7-4F66-B3B8-A161FE7E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386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Sticky actions and controls need clearer states and more dependable touch space.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B29A3-0C5D-441A-9CB2-295142F7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634DA2-E596-422A-878C-0C2A2AB2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8CBDF2-0BF0-4A7C-A4F8-E4E957DF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625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Related products arrive without a decision frame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57545-7263-4C5B-B24B-BADEBA1F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05400"/>
            <a:ext cx="866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They can distract unless they appear after the core product choice.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3650A0-8843-451E-B453-CC46F29C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65BF11-8D99-435B-B113-DF2C6D2D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2E986A-F31E-464E-90AC-9EA08B96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1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46913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9930CB-F86D-48EA-9A2A-C6BFFEFA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decision sequence for an Indian wellness shopper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16B3A9-62FD-47C6-8277-ECABEC2E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62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page should answer the questions in the order shoppers naturally ask them.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27DE4-0B72-410D-9FF9-0B29A040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A1818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0A4F03-B51E-4A42-B426-7B398AF7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71782-1C9F-46D8-9862-D53D69BB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Is this credible?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81E98-5925-445F-827D-985C3AE2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9DED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9DEDB"/>
                </a:solidFill>
                <a:latin typeface="Arial"/>
                <a:ea typeface="Arial"/>
                <a:cs typeface="Arial"/>
              </a:rPr>
              <a:t>Rating, ingredient standard and plain-language benefits appear together.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159FB-EF80-4A01-8B7F-2AEAD8EF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DFAF2A-8ADF-46B3-BE47-28FE5F8C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F6C4F-FFA1-4280-8A59-6F81D916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Is it worth 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8E724B-E710-408E-B808-ECC0A421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Price per day, routine value and payment choice reduce the perceived jump.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F79AE0-1F5C-41A4-B0F5-D5AEC7DF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D34F7A-A94A-4C41-8CD1-2DE682EF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9FB5C-911B-45F4-8342-AEC555E4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Can I get it?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A04B2-414D-4456-A90F-F9068008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Pincode, delivery estimate, UPI, cards and COD remove checkout uncertainty.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63C80-CE9A-41B2-851C-52D99B495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962150"/>
            <a:ext cx="2381250" cy="29908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FA7B14-B2E3-4419-80B3-1A556C4D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90750"/>
            <a:ext cx="38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C86714-7B94-492D-B45B-5606FF95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4320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What else fits?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F6ACDE-79BB-4D42-91A2-AE419C670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1952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Relevant additions appear only after the core product decision.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AF172-1C61-4D84-A121-E6ABA575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This structure makes the buying choice feel earned, not forced.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C7E74C-9EBB-4D38-8C62-7C87A1A8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78708A-5558-4C73-99BA-93EA788B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1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942809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A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EFC424-22BE-4FCD-B08E-F3B9AC50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redesigned page puts proof at the point of choice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230137-DC89-4635-AA07-4854D692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8D9D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8D9D6"/>
                </a:solidFill>
                <a:latin typeface="Arial"/>
                <a:ea typeface="Arial"/>
                <a:cs typeface="Arial"/>
              </a:rPr>
              <a:t>A premium, clinical layout leads with product confidence and protects focus.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83817-467A-4132-A941-4B3CEFCA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40403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9CC836-76AF-4E79-BBF6-2F360BDC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18F91-BB24-4AA7-9779-C31DEEE52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Gallery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D2B67-6305-43E6-8913-20C1BE28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0D7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0D7D5"/>
                </a:solidFill>
                <a:latin typeface="Arial"/>
                <a:ea typeface="Arial"/>
                <a:cs typeface="Arial"/>
              </a:rPr>
              <a:t>Swipeable product and evidence imagery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D764AF-80BD-496E-BF1B-24B186F93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13AAA7"/>
          </a:solidFill>
          <a:ln xmlns:a="http://schemas.openxmlformats.org/drawingml/2006/main" w="9525">
            <a:solidFill>
              <a:srgbClr val="13AAA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15F66-B198-47FA-AEAD-80815C6DE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A4D73-9B42-471F-BB04-CB6BC065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Belief layer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534482-C1F0-4F6A-9943-61DA0D132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4.74 rating, six benefit icons, standards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09065-1B68-4F12-AE58-80AB174D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4040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EE24EF-ABF2-4BDF-A440-60D1FFA4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53155-FE0B-4E8D-A377-3A15DC76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999E4B-4865-4B52-861C-0BD4F737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0D7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0D7D5"/>
                </a:solidFill>
                <a:latin typeface="Arial"/>
                <a:ea typeface="Arial"/>
                <a:cs typeface="Arial"/>
              </a:rPr>
              <a:t>Price, routine choice, pincode and 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EE2CA-DD61-469F-9659-623EDCE8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905000"/>
            <a:ext cx="2400300" cy="2343150"/>
          </a:xfrm>
          <a:prstGeom xmlns:a="http://schemas.openxmlformats.org/drawingml/2006/main" prst="roundRect">
            <a:avLst>
              <a:gd name="adj" fmla="val 6504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4040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29BDD8-18BF-4A44-89D7-E78E911B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43C5A-5761-4A13-9724-C7B8F151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098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Support layer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46ADBE-AAE8-450B-8913-299E1496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143250"/>
            <a:ext cx="200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0D7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0D7D5"/>
                </a:solidFill>
                <a:latin typeface="Arial"/>
                <a:ea typeface="Arial"/>
                <a:cs typeface="Arial"/>
              </a:rPr>
              <a:t>Payment methods, evidence, objections and related products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4A0CE-A923-4A87-9EBE-15C9807D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 block has one job: reduce uncertainty or make the next action obvious.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A9D24-0E35-49CA-AE9D-567B0430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4C8E06-63CA-4A78-ADF0-0C0B3F01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1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342868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D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60AF50-A174-498E-963D-EAA60933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Evidence now appears before the price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CF70C-F115-4B8E-A489-D82D7CF7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redesigned buy box groups rating, benefits and product standards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73078-70DB-4A9E-BEEE-E77AD4A5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5200650" cy="4057650"/>
          </a:xfrm>
          <a:prstGeom xmlns:a="http://schemas.openxmlformats.org/drawingml/2006/main" prst="roundRect">
            <a:avLst>
              <a:gd name="adj" fmla="val 4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981E55-C92B-437C-A901-271B7208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62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Pure Korean Marine Collagen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C692A-928F-45C8-B661-8007B00E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123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0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4.74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B83B2B-6182-4FC8-85C7-9BE30FC94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9080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83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98300"/>
                </a:solidFill>
                <a:latin typeface="Arial"/>
                <a:ea typeface="Arial"/>
                <a:cs typeface="Arial"/>
              </a:rPr>
              <a:t>★★★★★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8052F1-8041-45A0-9B81-BEA30898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9560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From 571 verified buyers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60288A-727F-4F87-B273-DD85A48A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AF83BF-9303-43D1-8D7A-155CE706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20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CA816C-ED49-4D68-B71F-ABCD9126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0520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514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Reduce signs of ageing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63F983-CA76-4234-9AE3-67DA2EA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33375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2AA62-24B6-47F4-B2DF-CE8F1683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505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20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9ACD6F-7ADB-464F-AD93-23B06E59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50520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Firmness &amp; elasticity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C69635-1697-4E9A-9BDE-D72CD19D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33375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E0C5F9-3DD7-4240-A1A7-D4026F34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05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20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E7F83F-43D3-453D-9D38-AE0B67C5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0520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Improves hydration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5FCAC-1F81-44CE-BFB7-A9AA7FEB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DB0AE8-D7FD-48BB-B97F-C39283B7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00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20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07C51-BF37-4E15-90B8-88BB8750A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0055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Refines skin texture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6D8B02-C4BD-4045-BC61-D22F2676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22910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9AE77-2905-47E2-839C-6C4D0D607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400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20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D744B-F9E1-429D-883F-AB287AF1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40055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Collagen density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647AD-F6DC-4DA6-AA27-01DB98BE5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229100"/>
            <a:ext cx="13430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5FBFA"/>
          </a:solidFill>
          <a:ln xmlns:a="http://schemas.openxmlformats.org/drawingml/2006/main" w="9525">
            <a:solidFill>
              <a:srgbClr val="CFE5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F660D51-F8BE-4828-AE7B-795AC2E4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00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2029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A6073-4D7A-4A0F-AAF2-30333382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838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Joint health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F97737-3510-47A9-B595-36960939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669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Why it helps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06E20-1A60-43E3-8874-4890760B4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24100"/>
            <a:ext cx="40195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customer can make a quick credibility judgement without scrolling through separate proof modules.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D509D1-4336-443E-B958-C203F27E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63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This converts claims from background information into a reason to continue.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126119-C54D-423A-BA21-754466EC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86300"/>
            <a:ext cx="2343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9FE154-23A2-48D5-8B97-B6CA6CB3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43450"/>
            <a:ext cx="2343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5854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58542"/>
                </a:solidFill>
                <a:latin typeface="Arial"/>
                <a:ea typeface="Arial"/>
                <a:cs typeface="Arial"/>
              </a:rPr>
              <a:t>Claim provenance remains visible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4BAF6B-5C9D-48D2-A2AD-E3974B8B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ABE311-B893-4055-B35A-2CBD53CF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1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72007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9009D0-E9C6-4341-B09C-9B2AE598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 single routine state stays consistent across the page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9703C-E042-4A85-BE17-E775DE64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239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selected routine drives every price, CTA, sticky control and cart 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C4F249-1444-45BB-B555-B84B71355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81772-3E4E-45CF-83EA-3A03D143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71651-D737-46E4-9161-90A12D55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Choose 25, 50, 75 or 100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4EB51-A89E-4E37-8C10-BABA3DCA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EE82A9-6831-421E-9356-20FBC765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CA97B-375E-43A9-9828-385A0C40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915DBF-6E8C-444C-9BC9-3537871C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See the price and daily cost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6B9E6-B13A-4185-80C0-F22EAE1C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0E76E1-6EB1-490B-8274-9355A918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A90C7A-294A-4519-9960-FAD1AC17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9D15D9-E459-4072-9218-DBB988E5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Add once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C7BD40-645F-4BA8-9564-A30C4350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553EC5-661F-42AD-991F-9755A60F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56D58-3290-47A1-A3FC-090C5B12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BF2D4-FCFC-4E0C-94AE-E763D243B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Adjust quantity in the same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A719A5-2EC3-4759-92AB-7CCDAD45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575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15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AED657-F162-44E0-A945-39E4047E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1809750" cy="1543050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640F6B-3368-4399-BE2C-09DAE668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4795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941CC7-0A51-4C81-BF11-639652167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1466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Buy now opens the bag with the selected routine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C439C-2489-4AFB-B879-C3ACB376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CRO rationale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50641-2EF0-43F6-87CF-EA77ACC7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Shoppers should never see one routine selected and another routine reflected in the CTA or cart. State consistency prevents doubt at the moment of purchase.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5B176F-F9B5-4B40-958D-21C0D03F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D3B655-E70E-4E05-BBDC-AEDF6BB5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1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88369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618A2-8F80-4941-A068-757B0885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Trust and payment friction move into the buying moment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19004-06AF-44F2-BB66-5873179A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02E41-28EA-4204-86E6-0DD8114E2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62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Pincode before checkout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0E41C-8767-4895-A37A-0F81735F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859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Show delivery availability and COD before payment.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C0F94-4935-45E7-AAF5-A622A3A1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5C761-F3A5-47F9-AF29-4DF7B1D93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52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Payment recognition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B19617-5BBD-4EEC-B532-1FE345EF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8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UPI, cards, net banking, wallets and COD use clear symbols.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702783-C560-4661-A975-D052CB4F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ACFA5B-7F13-46AE-98C4-9EC72669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Installment clarity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61F89-4C85-4272-AFEC-FED802B2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671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EMI and cashback appear with eligibility conditions.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B8283F-BDA4-4BED-BC15-C14581E85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5385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8D3D17-BBAF-40EE-93A3-6760D0DA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Live stock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FBBEB-AF3B-4AF4-A8BA-DAE1D271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272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Urgency must connect to inventory rather than a fabricated number.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79B33-13C2-46AE-98BA-DA70559E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62100"/>
            <a:ext cx="4457700" cy="3581400"/>
          </a:xfrm>
          <a:prstGeom xmlns:a="http://schemas.openxmlformats.org/drawingml/2006/main" prst="roundRect">
            <a:avLst>
              <a:gd name="adj" fmla="val 4787"/>
            </a:avLst>
          </a:prstGeom>
          <a:solidFill xmlns:a="http://schemas.openxmlformats.org/drawingml/2006/main">
            <a:srgbClr val="1A1818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BFB151-C4D6-4B19-BCEC-B3847BBB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240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The purchase promise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1F4600-E22A-4FE9-B69C-625CA37F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34861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38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“You will know the delivery option and payment choice before you commit.”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BCB58-E17E-4FA4-A250-5D3294A8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624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8D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7D8D5"/>
                </a:solidFill>
                <a:latin typeface="Arial"/>
                <a:ea typeface="Arial"/>
                <a:cs typeface="Arial"/>
              </a:rPr>
              <a:t>This removes avoidable uncertainty without using deceptive pressure.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20C2AE-832E-4649-A4C7-28546944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17301F-5682-4743-8044-1904DB7B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1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60984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53C7A3-590C-404D-816D-09E2C9A5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Related products increase basket value after core intent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B2EC5-E6F0-4101-B545-D316A7F4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The page first helps a shopper choose Marine Collagen. It then presents relevant, optional additions and similar collagen flavours.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0B376-7A09-4970-A05E-1E8E235A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32385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4E4D7-C5ED-44DE-9C01-AA936618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Daily nutrition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2138C-85C9-4325-87D5-A80C2050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Daily Greens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FE835-F9AC-4308-A70A-628D914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₹1,043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51769-D9B3-422F-91AA-CDE9D5D1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3335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38538-5805-4199-B300-626CF8BC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Add to bag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CFA14-88A2-4BDB-930E-21C032D2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00250"/>
            <a:ext cx="32385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73E18E-DBB9-401D-946F-039B967C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47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Popular pairing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F5367-8BE9-4D13-89D2-B20ECFAA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47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Healthy Hair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18BC0-9D29-4096-AD0A-7ABC857A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₹599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A827A-57C5-4117-B2BE-6CA565D4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24300"/>
            <a:ext cx="13335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AE8CB2-04FE-4350-A8BE-EB3BB927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48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Add to bag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97D4A-8766-4C39-8ECA-49ED648D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0250"/>
            <a:ext cx="3238500" cy="2552700"/>
          </a:xfrm>
          <a:prstGeom xmlns:a="http://schemas.openxmlformats.org/drawingml/2006/main" prst="roundRect">
            <a:avLst>
              <a:gd name="adj" fmla="val 6716"/>
            </a:avLst>
          </a:prstGeom>
          <a:solidFill xmlns:a="http://schemas.openxmlformats.org/drawingml/2006/main">
            <a:srgbClr val="F6FBFA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1E50A-F5DC-4B01-B239-AF414DEF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4790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Similar product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6B96A-30F3-43AE-9AE5-DABCC23E1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260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963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Beauty Collagen Mango Peach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4761E5-DA4E-4CBF-8F54-68E9DF67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333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₹1,939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C07408-8E67-4140-9BF6-1836DEE74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24300"/>
            <a:ext cx="13335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A1818"/>
          </a:solidFill>
          <a:ln xmlns:a="http://schemas.openxmlformats.org/drawingml/2006/main" w="9525">
            <a:solidFill>
              <a:srgbClr val="1A18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F7D9D-B23F-4723-AFC6-066866E4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Buy now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DA6C67-CD50-4040-88DA-7F52D7CA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Guardrail: cross-sells must never overwrite the chosen routine or obscure the primary purchase action.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83BDBE-0CE0-43D3-A732-A6B2F582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371D2-A894-4F47-960F-1AA66BB6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1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23238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DF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087B61-18FF-4B3E-8E9D-343F3108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How we would measure whether the redesign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AA3B5-DF6C-4174-BE16-EFD0BBD8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0972800" cy="32385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01482-EB37-4346-A42B-6CEE64C2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Metric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F4C77-F926-4C74-A7C7-29D6BD745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Definition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F95BE-C469-41AE-8C91-1F59C958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097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A58C1-210F-4B11-B751-409B45BF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29D25-976A-4A5C-A385-9DB2E2AB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Primary outcome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8B57A-7169-4F47-9DC1-580CBB16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Product-page purchase conversion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44DA2-AAB2-4DBE-990E-2DB1D8D5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33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Completed checkout sessions / eligible product-page sessions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BD2B0F-1BFF-47C9-BA52-C8F97E6D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91F436-1C44-416C-9B3C-B99FBA00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Decision quality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4A04A-521F-447A-9D73-82F1CF69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0987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Routine selection 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80D4A6-FE48-4EF2-833C-5CD16227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098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Visitors choosing a 25, 50, 75 or 100-day routine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E8C2D5-6CCC-414A-B938-97D2E8F4F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B73F1F-CED7-4766-85C5-DA0FD5A8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Friction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8E94CF-6517-4F2E-AB32-10780612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2861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Pincode validation completion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0F5CC-12E0-4CA1-B07D-8EC90A41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861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Visitors who receive a delivery 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8531B-C734-4B78-A692-F109AC38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665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7F939-8AF9-4B5C-854E-8B810C0A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62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907AC-88A0-429A-BBAE-543AAB15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76237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Evidence interaction 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C1FAEF-EA8D-4033-BD83-05FFA3C8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6237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Clicks on evidence, standards or payment-plan detail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6A2426-87C7-4216-ADD3-6D6AAE1B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52900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FE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C2431D-6A6C-43EF-85B1-95AABE63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Basket growth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B7E3E2-21DE-48C2-82F9-D5BDC0C9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38625"/>
            <a:ext cx="3219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Relevant add-on attachment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492D10-EA99-4023-AB21-87A7DF5B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38625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Orders containing a chosen optional product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300B7D-13C7-4F83-AA73-008B8087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No conversion uplift is promised. The proposal defines hypotheses that need controlled A/B validation.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9E8FF0-AFE4-4A95-86AD-0650FB7B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6BD5B2-A2B7-4F80-9B63-1331A8F09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1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597590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A18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1A047D-897C-4D9A-80E9-166E1817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Experiment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1DEA7-9751-4014-A1E8-37E16B36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A staged rollout limits risk and produces interpretable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8A7C3-2122-4017-8EA8-EAEE18A6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3AAA7"/>
          </a:solidFill>
          <a:ln xmlns:a="http://schemas.openxmlformats.org/drawingml/2006/main" w="9525">
            <a:solidFill>
              <a:srgbClr val="13AAA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2675F-F8A4-4762-BFD2-6DF53BCC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94B76-6D7A-46C9-8999-4F1A248B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Instrument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68FE01-4AC9-4728-89CE-05B4035C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Capture routine choice, pincode checks, cart opens, proof interactions and checkout starts.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8EB37D-547E-4C9C-825E-5063F9AA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3D3D3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93BAD-90FF-457C-BFC6-1BEA5AF1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6A087-37AE-4AAD-8F9A-FD2AD87E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the decision zone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8AEB6-5404-4C83-8C65-A055104C4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CD7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CD7D5"/>
                </a:solidFill>
                <a:latin typeface="Arial"/>
                <a:ea typeface="Arial"/>
                <a:cs typeface="Arial"/>
              </a:rPr>
              <a:t>Compare the compact benefit grid and proof placement against the current hierarchy.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11270-274E-4407-9280-29AAB985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3D3D3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80A38E-5CA6-444B-836A-561AACCD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682C0-3105-4849-844F-640E0B30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817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the buying mechanics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E316F-5DA0-455E-8B0A-385E5660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CD7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CD7D5"/>
                </a:solidFill>
                <a:latin typeface="Arial"/>
                <a:ea typeface="Arial"/>
                <a:cs typeface="Arial"/>
              </a:rPr>
              <a:t>Compare routine selection, sticky CTA, payment reassurance and quantity control treatments.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DA053-79A4-46CD-8FA6-9F39945CF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09750"/>
            <a:ext cx="2381250" cy="29527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242423"/>
          </a:solidFill>
          <a:ln xmlns:a="http://schemas.openxmlformats.org/drawingml/2006/main" w="9525">
            <a:solidFill>
              <a:srgbClr val="3D3D3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DDEBA0-91DE-4B97-AFB2-75651CF5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038350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3AAA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AAA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209459-6881-4E9E-8EBB-8F413F0B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431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Expand only after proof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F491A-46AE-42B6-AF52-706A7652B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67050"/>
            <a:ext cx="2000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CD7D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CD7D5"/>
                </a:solidFill>
                <a:latin typeface="Arial"/>
                <a:ea typeface="Arial"/>
                <a:cs typeface="Arial"/>
              </a:rPr>
              <a:t>Scale cross-sell and financing treatments once core conversion and cancellation signals remain healthy.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597357-51DA-41E7-BE1F-3ACCFE3B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16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 rule: keep variants that improve the primary metric without creating a decline in checkout completion or post-purchase quality.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00EEE-28B5-403B-B533-24720D2C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86A91-000A-4DF8-91D3-7C66F03B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1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331701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515CF-05BF-4172-AB70-5B7A5BDA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What to ship, what to validate, what to govern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7932F-DB1D-4130-8C50-25C68B89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3257550" cy="34671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FF8F6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0B8FD-E571-4177-92BE-EF569128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916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Ship in the page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FF977-75AA-4B2F-A519-1CD5CE7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571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Responsive product gallery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Routine state synchronisation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Accessible CTA and quantity controls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Visible payment methods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Relevant product discovery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1B7BC-5FC9-4FB0-ABEC-61264D11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714500"/>
            <a:ext cx="3257550" cy="34671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AF9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CA4AA-BE43-4ADA-9762-8DC1ED07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81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Validate with real traffic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4D5CDB-84C6-4D5A-A622-C64B6B124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43200"/>
            <a:ext cx="2571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Benefit-grid placement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Default routine and best-value emphasis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Sticky action composition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EMI treatment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Cross-sell placement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BC632-1B44-4072-9EA0-5F245780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257550" cy="34671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5F3"/>
          </a:solidFill>
          <a:ln xmlns:a="http://schemas.openxmlformats.org/drawingml/2006/main" w="9525">
            <a:solidFill>
              <a:srgbClr val="D5E4E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A47D17-F714-42DB-AC12-B1C64DF9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8120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Govern with live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1833A-CE25-4EF9-958C-9B926959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43200"/>
            <a:ext cx="25717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Inventory count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Price and promotional terms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Payment eligibility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Clinical substantiation</a:t>
            </a:r>
          </a:p>
          <a:p xmlns:a="http://schemas.openxmlformats.org/drawingml/2006/main">
            <a:pPr algn="l">
              <a:defRPr sz="13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Batch and heavy-metal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C5A8B7-C5C2-49EC-862E-A780E511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result is a product page that looks premium because it behaves with clarity, consistency and restraint.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5E43C-88C2-4B7E-ABA2-EBBAA49C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685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47170"/>
                </a:solidFill>
                <a:latin typeface="Arial"/>
                <a:ea typeface="Arial"/>
                <a:cs typeface="Arial"/>
              </a:rPr>
              <a:t>Wellbeing Nutrition · Korean Marine Collagen CRO proposal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09D9E2-8DD4-47D2-8EF6-A7BDE4801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1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471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836277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3AAA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FF1DC8-602E-416C-8C76-907BC63C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People do judge a book by its cover.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E62143-DCBC-4489-A2E2-F204082B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795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For this product page, the “cover” must show that the collagen is credible, valuable and simple to buy.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353249-0F4A-4F0E-9A9F-42216A81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487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8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9DF8AD-114A-4B15-ACE6-8BDFE501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The redesigned experience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0E13D-5392-4D85-AB3C-2D6DA78C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4191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Makes proof immediate</a:t>
            </a:r>
          </a:p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Makes the next action obvious</a:t>
            </a:r>
          </a:p>
          <a:p xmlns:a="http://schemas.openxmlformats.org/drawingml/2006/main">
            <a:pPr algn="l">
              <a:defRPr sz="1875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Keeps every purchase state consistent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3B9BCD-D072-4BC2-804C-F9D0030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Prototype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18F21-2B0B-4498-B2E4-B25CFE8D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wellbeing-collagen-cro-lab.woodsy-earth-4335.chatgpt.site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778733-E7BC-4DC0-90D8-4226164C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00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A1818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4A84E-516E-43D6-816D-4031B2A9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524500"/>
            <a:ext cx="3467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A181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A1818"/>
                </a:solidFill>
                <a:latin typeface="Arial"/>
                <a:ea typeface="Arial"/>
                <a:cs typeface="Arial"/>
              </a:rPr>
              <a:t>github.com/Michaelscott007/WELLBEING-COLLAGEN-assignment</a:t>
            </a:r>
          </a:p>
        </p:txBody>
      </p:sp>
    </p:spTree>
    <p:extLst>
      <p:ext uri="{BB962C8B-B14F-4D97-AF65-F5344CB8AC3E}">
        <p14:creationId xmlns:p14="http://schemas.microsoft.com/office/powerpoint/2010/main" val="7435880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2026-09-20T13:05:55.0880000Z</dcterms:created>
  <dcterms:modified xsi:type="dcterms:W3CDTF">2026-09-20T13:05:55.0880000Z</dcterms:modified>
</coreProperties>
</file>