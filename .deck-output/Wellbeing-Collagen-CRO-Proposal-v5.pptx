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7f89e4aef447a4" /><Relationship Type="http://schemas.openxmlformats.org/officeDocument/2006/relationships/extended-properties" Target="/docProps/app.xml" Id="R7ae5446401954133" /><Relationship Type="http://schemas.openxmlformats.org/officeDocument/2006/relationships/officeDocument" Target="/ppt/presentation.xml" Id="R0382cd5d6e32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5d66d69e046d3"/>
  </p:sldMasterIdLst>
  <p:notesMasterIdLst>
    <p:notesMasterId xmlns:r="http://schemas.openxmlformats.org/officeDocument/2006/relationships" r:id="R9fec2213e44947d3"/>
  </p:notesMasterIdLst>
  <p:sldIdLst>
    <p:sldId xmlns:r="http://schemas.openxmlformats.org/officeDocument/2006/relationships" id="256" r:id="R6249582abb334c8b"/>
    <p:sldId xmlns:r="http://schemas.openxmlformats.org/officeDocument/2006/relationships" id="257" r:id="R70474c47532949f0"/>
    <p:sldId xmlns:r="http://schemas.openxmlformats.org/officeDocument/2006/relationships" id="258" r:id="Rab37ed4b6137482b"/>
    <p:sldId xmlns:r="http://schemas.openxmlformats.org/officeDocument/2006/relationships" id="259" r:id="Rc58de4b25fae4709"/>
    <p:sldId xmlns:r="http://schemas.openxmlformats.org/officeDocument/2006/relationships" id="260" r:id="Rca81968f34b3481a"/>
    <p:sldId xmlns:r="http://schemas.openxmlformats.org/officeDocument/2006/relationships" id="261" r:id="Rd2380a96230f4d31"/>
    <p:sldId xmlns:r="http://schemas.openxmlformats.org/officeDocument/2006/relationships" id="262" r:id="R22757f40045a4524"/>
    <p:sldId xmlns:r="http://schemas.openxmlformats.org/officeDocument/2006/relationships" id="263" r:id="Rf2c93838a31f47c9"/>
    <p:sldId xmlns:r="http://schemas.openxmlformats.org/officeDocument/2006/relationships" id="264" r:id="Ra9793d2077dc4546"/>
    <p:sldId xmlns:r="http://schemas.openxmlformats.org/officeDocument/2006/relationships" id="265" r:id="R94e8c24078334af3"/>
    <p:sldId xmlns:r="http://schemas.openxmlformats.org/officeDocument/2006/relationships" id="266" r:id="R47c5ee5df6744d65"/>
    <p:sldId xmlns:r="http://schemas.openxmlformats.org/officeDocument/2006/relationships" id="267" r:id="Ra76217a587c549be"/>
    <p:sldId xmlns:r="http://schemas.openxmlformats.org/officeDocument/2006/relationships" id="268" r:id="R59b1db1cb3234369"/>
    <p:sldId xmlns:r="http://schemas.openxmlformats.org/officeDocument/2006/relationships" id="269" r:id="Rfb26f8a7971d44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cf1c6f2d314bfa" /><Relationship Type="http://schemas.openxmlformats.org/officeDocument/2006/relationships/slideMaster" Target="/ppt/slideMasters/slideMaster1.xml" Id="R0135d66d69e046d3" /><Relationship Type="http://schemas.openxmlformats.org/officeDocument/2006/relationships/notesMaster" Target="/ppt/notesMasters/notesMaster1.xml" Id="R9fec2213e44947d3" /><Relationship Type="http://schemas.openxmlformats.org/officeDocument/2006/relationships/presProps" Target="/ppt/presProps.xml" Id="R3ea9e15456604496" /><Relationship Type="http://schemas.openxmlformats.org/officeDocument/2006/relationships/tableStyles" Target="/ppt/tableStyles.xml" Id="R54f5c9e22bbe4502" /><Relationship Type="http://schemas.openxmlformats.org/officeDocument/2006/relationships/slide" Target="/ppt/slides/slide1.xml" Id="R6249582abb334c8b" /><Relationship Type="http://schemas.openxmlformats.org/officeDocument/2006/relationships/slide" Target="/ppt/slides/slide2.xml" Id="R70474c47532949f0" /><Relationship Type="http://schemas.openxmlformats.org/officeDocument/2006/relationships/slide" Target="/ppt/slides/slide3.xml" Id="Rab37ed4b6137482b" /><Relationship Type="http://schemas.openxmlformats.org/officeDocument/2006/relationships/slide" Target="/ppt/slides/slide4.xml" Id="Rc58de4b25fae4709" /><Relationship Type="http://schemas.openxmlformats.org/officeDocument/2006/relationships/slide" Target="/ppt/slides/slide5.xml" Id="Rca81968f34b3481a" /><Relationship Type="http://schemas.openxmlformats.org/officeDocument/2006/relationships/slide" Target="/ppt/slides/slide6.xml" Id="Rd2380a96230f4d31" /><Relationship Type="http://schemas.openxmlformats.org/officeDocument/2006/relationships/slide" Target="/ppt/slides/slide7.xml" Id="R22757f40045a4524" /><Relationship Type="http://schemas.openxmlformats.org/officeDocument/2006/relationships/slide" Target="/ppt/slides/slide8.xml" Id="Rf2c93838a31f47c9" /><Relationship Type="http://schemas.openxmlformats.org/officeDocument/2006/relationships/slide" Target="/ppt/slides/slide9.xml" Id="Ra9793d2077dc4546" /><Relationship Type="http://schemas.openxmlformats.org/officeDocument/2006/relationships/slide" Target="/ppt/slides/slide10.xml" Id="R94e8c24078334af3" /><Relationship Type="http://schemas.openxmlformats.org/officeDocument/2006/relationships/slide" Target="/ppt/slides/slide11.xml" Id="R47c5ee5df6744d65" /><Relationship Type="http://schemas.openxmlformats.org/officeDocument/2006/relationships/slide" Target="/ppt/slides/slide12.xml" Id="Ra76217a587c549be" /><Relationship Type="http://schemas.openxmlformats.org/officeDocument/2006/relationships/slide" Target="/ppt/slides/slide13.xml" Id="R59b1db1cb3234369" /><Relationship Type="http://schemas.openxmlformats.org/officeDocument/2006/relationships/slide" Target="/ppt/slides/slide14.xml" Id="Rfb26f8a7971d44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f5f77114a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118ca6ed1490d" /><Relationship Type="http://schemas.openxmlformats.org/officeDocument/2006/relationships/notesMaster" Target="/ppt/notesMasters/notesMaster1.xml" Id="R1a05ae5da65946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624c9aec64abc" /><Relationship Type="http://schemas.openxmlformats.org/officeDocument/2006/relationships/notesMaster" Target="/ppt/notesMasters/notesMaster1.xml" Id="R20e8b0a65bed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5b6b810fb0490d" /><Relationship Type="http://schemas.openxmlformats.org/officeDocument/2006/relationships/notesMaster" Target="/ppt/notesMasters/notesMaster1.xml" Id="R5f4ce965e53b41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fd332ed0154de4" /><Relationship Type="http://schemas.openxmlformats.org/officeDocument/2006/relationships/notesMaster" Target="/ppt/notesMasters/notesMaster1.xml" Id="R9dada1567841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f4d0bb0054adf" /><Relationship Type="http://schemas.openxmlformats.org/officeDocument/2006/relationships/notesMaster" Target="/ppt/notesMasters/notesMaster1.xml" Id="R937b6b8a68f548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648932ff74119" /><Relationship Type="http://schemas.openxmlformats.org/officeDocument/2006/relationships/notesMaster" Target="/ppt/notesMasters/notesMaster1.xml" Id="Rc03ed6cc81d1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585d6abb6346c8" /><Relationship Type="http://schemas.openxmlformats.org/officeDocument/2006/relationships/notesMaster" Target="/ppt/notesMasters/notesMaster1.xml" Id="R22b73aee3e124f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effdaec6b1462f" /><Relationship Type="http://schemas.openxmlformats.org/officeDocument/2006/relationships/notesMaster" Target="/ppt/notesMasters/notesMaster1.xml" Id="Re84363be18dc46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4cfffef34f4064" /><Relationship Type="http://schemas.openxmlformats.org/officeDocument/2006/relationships/notesMaster" Target="/ppt/notesMasters/notesMaster1.xml" Id="R4820bfb52a6048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d7014df25f4370" /><Relationship Type="http://schemas.openxmlformats.org/officeDocument/2006/relationships/notesMaster" Target="/ppt/notesMasters/notesMaster1.xml" Id="Rf71239793b114a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a62ce7b20e423b" /><Relationship Type="http://schemas.openxmlformats.org/officeDocument/2006/relationships/notesMaster" Target="/ppt/notesMasters/notesMaster1.xml" Id="R539ce5349fa640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de70214e7844db" /><Relationship Type="http://schemas.openxmlformats.org/officeDocument/2006/relationships/notesMaster" Target="/ppt/notesMasters/notesMaster1.xml" Id="R572c78c8656547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fad7a8ad9e4756" /><Relationship Type="http://schemas.openxmlformats.org/officeDocument/2006/relationships/notesMaster" Target="/ppt/notesMasters/notesMaster1.xml" Id="Rfb0a8697890f41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25c80060bf46cb" /><Relationship Type="http://schemas.openxmlformats.org/officeDocument/2006/relationships/notesMaster" Target="/ppt/notesMasters/notesMaster1.xml" Id="Rbbca5270af0741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 interaction design.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Wellbeing Nutrition product page payment and stock widgets observed during assignment review.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Wellbeing Nutrition catalogue pricing as observed during assignment review. Prices require live validation.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f37670ef444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b5de4d040f402e" /><Relationship Type="http://schemas.openxmlformats.org/officeDocument/2006/relationships/slideLayout" Target="/ppt/slideLayouts/slideLayout1.xml" Id="R5bbd59ab2c66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bd59ab2c66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72f9c43f94355" /><Relationship Type="http://schemas.openxmlformats.org/officeDocument/2006/relationships/image" Target="/ppt/media/image.jpeg" Id="R5477c4897a2e4909" /><Relationship Type="http://schemas.openxmlformats.org/officeDocument/2006/relationships/notesSlide" Target="/ppt/notesSlides/notesSlide1.xml" Id="R84c8694b49234c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01276a72b4066" /><Relationship Type="http://schemas.openxmlformats.org/officeDocument/2006/relationships/notesSlide" Target="/ppt/notesSlides/notesSlide2.xml" Id="Rc69d3d6e52ee4a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5b70eadec459a" /><Relationship Type="http://schemas.openxmlformats.org/officeDocument/2006/relationships/notesSlide" Target="/ppt/notesSlides/notesSlide3.xml" Id="R2fb9996c57bf4e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0cd8abe794879" /><Relationship Type="http://schemas.openxmlformats.org/officeDocument/2006/relationships/notesSlide" Target="/ppt/notesSlides/notesSlide4.xml" Id="R011dafb2edad4f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f5196f06d4aca" /><Relationship Type="http://schemas.openxmlformats.org/officeDocument/2006/relationships/notesSlide" Target="/ppt/notesSlides/notesSlide5.xml" Id="R40207df997e1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21b3c36cd473b" /><Relationship Type="http://schemas.openxmlformats.org/officeDocument/2006/relationships/notesSlide" Target="/ppt/notesSlides/notesSlide6.xml" Id="Re106265734ac4f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b1dbd73854814" /><Relationship Type="http://schemas.openxmlformats.org/officeDocument/2006/relationships/notesSlide" Target="/ppt/notesSlides/notesSlide7.xml" Id="R1b1f873f1df144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eaf0b7cf0465b" /><Relationship Type="http://schemas.openxmlformats.org/officeDocument/2006/relationships/notesSlide" Target="/ppt/notesSlides/notesSlide8.xml" Id="R3164c3ddbdbd4f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3fbdc3f3e4296" /><Relationship Type="http://schemas.openxmlformats.org/officeDocument/2006/relationships/notesSlide" Target="/ppt/notesSlides/notesSlide9.xml" Id="R07bd2e5112f54e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d75b39279423f" /><Relationship Type="http://schemas.openxmlformats.org/officeDocument/2006/relationships/notesSlide" Target="/ppt/notesSlides/notesSlide10.xml" Id="R5bb3fe06a83649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44bf780f9480f" /><Relationship Type="http://schemas.openxmlformats.org/officeDocument/2006/relationships/notesSlide" Target="/ppt/notesSlides/notesSlide11.xml" Id="R0e2ee7c7d5424c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ad8d6d5d44a80" /><Relationship Type="http://schemas.openxmlformats.org/officeDocument/2006/relationships/notesSlide" Target="/ppt/notesSlides/notesSlide12.xml" Id="R78e2ca62846b41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5182194be422f" /><Relationship Type="http://schemas.openxmlformats.org/officeDocument/2006/relationships/notesSlide" Target="/ppt/notesSlides/notesSlide13.xml" Id="R2267437ee5784a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82302b1b249c1" /><Relationship Type="http://schemas.openxmlformats.org/officeDocument/2006/relationships/notesSlide" Target="/ppt/notesSlides/notesSlide14.xml" Id="R573cb14e1fad4b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6B958-3696-4C4A-93E4-40F54DB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A1AB6-857C-4B71-A31B-96F1FBBB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E233-9A3F-4E5A-8212-5957EDA9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B57E4-BD47-4D0A-A394-08C472F7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Wellbeing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569C8-0682-492D-BAA8-17A26130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People do judge</a:t>
            </a:r>
          </a:p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book by</a:t>
            </a:r>
          </a:p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its 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91350-B38B-460D-A182-7390B472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A conversion rate optimisation proposal for Korean Marine Collagen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7341D-74B3-4771-BE2C-9DC2557E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A product page that earns belief before it asks for a purchase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7c4897a2e4909"/>
          <a:stretch xmlns:a="http://schemas.openxmlformats.org/drawingml/2006/main"/>
        </p:blipFill>
        <p:spPr>
          <a:xfrm xmlns:a="http://schemas.openxmlformats.org/drawingml/2006/main">
            <a:off x="6572250" y="1114425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C57C6-9FA6-4DEB-9AC1-92772C93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7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7DED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7DEDA"/>
                </a:solidFill>
                <a:latin typeface="Arial"/>
                <a:ea typeface="Arial"/>
                <a:cs typeface="Arial"/>
              </a:rPr>
              <a:t>CRO proposal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99866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71609-7223-4004-902B-49307964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the current product page already does well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25ADA-DC9B-47E2-9AD1-EF86260D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CRO proposal keeps these existing assets and presents them closer to the buying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7F507-CDF4-4C66-9A43-F696FC3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F4A55-ABF5-4DF9-8773-1614181C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8D2AF-A01C-43C9-8220-A0EFFA22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Credible product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DFFEC-6258-4FE9-ABE4-29B1DA2B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Korean marine collagen, ingredient cues and specific product facts give the page a strong foundation.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4D6ED-F391-468D-AE95-960FCA41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90D85-BC17-4D42-8B15-5EA1E7C5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9FC2F-8037-4AF5-92C8-FD62F060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Relevant proof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BA4FC-E5D0-4148-A1FA-E540397B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contains a 4.74 rating, clinical-study references, benefit claims and product standards.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9D2EA-E98D-44B1-B98F-117653A1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0DC05-A478-44E2-B90D-EAFB24F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99218-B190-4E0B-8337-52B3E02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Indian payment relevance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2C187-9134-4CC7-92C1-218721F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7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UPI, COD, EMI and cashback cues address familiar ways to pay.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ACEA2-E3F2-48CF-9068-4BEBBF14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E0DFA-2A1F-4C9C-BA27-23E01503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F46F7-C0F2-4569-BBBA-43FF2FC6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broader wellness catalogue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A4931-585F-492B-B070-CE5F057E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Related products create a genuine opportunity for relevant discovery after the core choice.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F78C6-640C-4CD3-BF22-AD676F3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0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recommendation improves hierarchy and interaction design. It does not discard the brand’s existing evidence base.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D7D01-EFAF-4BF8-85FA-003EC532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763983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A8DC1-FDE6-43BB-A0D8-BAAC2B06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conversion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39232-49B1-41ED-9EF2-37742837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0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product has credible reasons to buy. The page makes shoppers work too hard to find, trust and act on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3D22E-E622-44BA-95BE-EEDA39EF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8FE5C-8F6E-4C6D-8D19-747B8641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D1AE3-853A-4634-B32A-BFAB7252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Belief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52FA8-A66B-4F58-981B-B33A26D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Claims, proof and product cues sit too far apart.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D0771-2A05-4D9A-9F8B-27870A48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9263-340A-43E0-B8D7-CED39000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D2F8F-9F2F-4BEC-9E8C-643A56FA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Effort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A2359-32D6-4CCE-BB94-FE51810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Routine, payment and delivery decisions feel fragmented.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C93FA-7EAD-40FE-9B2B-B0A9A76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84876-3AF4-4EEC-9600-5B19F9A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AFAD2-1BC6-4694-9A01-677F30F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4F85B-A191-4418-A00C-79B67C45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needs a calmer, premium signal at every buying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C62F5-85AC-45FE-A66D-5FD730A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opportunity: translate product credibility into a quick, low-friction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C4DC3-DCED-4909-9E4E-160148C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82510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954BC-C0B7-4D5D-B1A7-239D8CCC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needs to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2910C-3216-40FC-8AF2-0204F50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Observed on the current product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9ED0A-C1A2-4948-A5EF-81CE032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84572-EB80-4812-8DE6-849E3CA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62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proof is scattered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9A311-7A7A-424A-9E15-369D163E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Benefits, ratings, clinical claims and product standards appear across separate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081D0-DB1F-40B0-9D1A-54B9AAD3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5F4C2-F66E-46CE-BCA8-8E3515CA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F9323-4119-498D-9DA1-3DFA773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purchase area asks too much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9935A-21C5-449D-AE46-4E9EC7C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Price, pack choice, delivery and payment options compete for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1A0BB-9F8B-49A2-BF3F-97FE42F3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871F0-7E88-40A9-8442-EC1CB65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2E087-144D-4345-83A4-9F0BF3D2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mobile experience feels dense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0BD14-A6BB-42FC-9E0A-3AFF519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Sticky actions and controls need clearer states and more dependable touch 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6C94D-5EE5-48E9-A819-A510177B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2A01-1229-41BB-A02E-DF1A2198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7F546-A253-49D5-ACB8-372212F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Related products arrive without a decision 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BC785-01D5-4D8D-B3DD-CDFBC62B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They can distract unless they appear after the core product choice.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DB8CA-5D87-4603-BE25-603BE091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91AB7-F9DA-49D4-9BA7-5684EA4C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45260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E7449-ED86-4E0A-A720-B8392EBB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99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decision sequence for an Indian wellness shopper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899B5-B1C0-4776-B033-54A66D6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should answer the questions in the order shoppers naturally ask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40F95-0E68-4FCA-9F38-50D358CA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DCAB7-EF4B-4A0F-852B-467C45C0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41075-0D82-4808-BD88-D5BF8A7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 this credible?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657A3-AB65-41F7-BEFF-D2C31C1F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E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EDB"/>
                </a:solidFill>
                <a:latin typeface="Arial"/>
                <a:ea typeface="Arial"/>
                <a:cs typeface="Arial"/>
              </a:rPr>
              <a:t>Rating, ingredient standard and plain-language benefits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FC424-A24E-41DB-82F7-3793612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56F4F-4EA1-4B79-95AD-A2FB7F3C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1BF70-0FFF-418F-B89D-0819C5B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Is it worth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172FA-0C52-493C-84E9-2EBD8AD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 per day, routine value and payment choice reduce the perceived jump.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75358-8841-46AA-ACEB-AC3CB26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3BBC6-3C35-430C-B99F-ECEEE76D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EE3D9-7888-4320-909F-73287135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Can I get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076FC-0EF6-4F82-A86C-9FA42BE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Pincode, delivery estimate, UPI, cards and COD remove checkout uncertainty.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10C42-6397-4F11-A4BA-406C481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8DA4E-7F09-456D-9AD3-C2CC4C54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BEEAA-AC76-4077-A9A5-A71D2E2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else fits?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0294F-7EEC-4571-BB3C-31F31B2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Relevant additions appear only after the core product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D06DD-A615-45DC-B3CA-3B8D426D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This structure makes the buying choice feel earned, not forced.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0B71D-1944-428B-9998-B322143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102665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0545F-999A-4765-BE70-C8EDA6D1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redesigned page puts proof at the point of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7E149-B870-4B52-B127-D02DC7B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9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D9D6"/>
                </a:solidFill>
                <a:latin typeface="Arial"/>
                <a:ea typeface="Arial"/>
                <a:cs typeface="Arial"/>
              </a:rPr>
              <a:t>A premium, clinical layout leads with product confidence and protects focus.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352BC-C4C7-434C-9ABC-6960747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AE131-FE23-41BE-9079-0D54E2DD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BADDC-AA99-4768-A493-528D92BE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Gallery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606D-9458-4026-A46A-FA6875D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Swipeable product and evidence imagery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55258-BA18-4DB2-8083-9356A38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3AAA7"/>
          </a:solidFill>
          <a:ln xmlns:a="http://schemas.openxmlformats.org/drawingml/2006/main" w="9525">
            <a:solidFill>
              <a:srgbClr val="13AA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0E9A-C370-4939-A57A-F8759F7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E8428-A341-4DBE-A2F0-7213A16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Belief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E78B7-F01D-425D-92DA-4F4228DA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4.74 rating, six benefit icons, standards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00CA2-B494-40A4-AA4C-6B84F57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1EF46-3A2D-4E3B-AC3C-30EFA086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1C91-520D-4105-8188-D8BA6379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E24E9-DB00-4FFD-B9A0-6D38A27C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Price, routine choice, pincode and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4DACD-F494-4072-A7EB-BD173BC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EEAA5-8450-4E80-8AD5-5C0206E0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A5F8B-B7A2-40A1-8621-A2CEAB61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5ADF6-1C56-4E3E-9AC5-9795C912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Payment methods, evidence, objections and related 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7CDD4-08A4-426E-B280-41E94415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block has one job: reduce uncertainty or make the next action obvious.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91226-5E49-4FDC-AD08-DAFD7CC1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185509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B7222-845C-4250-ADC8-00B6983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Evidence now appears before the price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5CEC1-9D5C-413A-BEC6-7DDF057A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redesigned buy box groups rating, benefits and product standards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88BCF-0211-426E-BAEB-EEA83A4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00650" cy="4057650"/>
          </a:xfrm>
          <a:prstGeom xmlns:a="http://schemas.openxmlformats.org/drawingml/2006/main" prst="roundRect">
            <a:avLst>
              <a:gd name="adj" fmla="val 4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6CD52-A78C-4101-B961-38449840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Pure Korean Marine Collagen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3323F-A082-4CC2-86A1-90913115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4.74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E8F3A-72AC-4FA0-86A5-53C723F5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83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8300"/>
                </a:solidFill>
                <a:latin typeface="Arial"/>
                <a:ea typeface="Arial"/>
                <a:cs typeface="Arial"/>
              </a:rPr>
              <a:t>★★★★★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3719E-617A-4A18-A7C4-3E3DA944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From 571 verified buyers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80C50-6534-4BCA-90E8-C2E90EF9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B809F-A510-450E-8A78-4DD32CA0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18452-17BB-4130-9C75-B0CBA0D8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54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Reduce signs of ageing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C68C9-57AC-4C87-81C3-F56A713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09954-BC51-4E4F-A7D0-30D1AA94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60D9A-8395-4ED4-B169-A2EA0A09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Firmness &amp; elasticity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025E-3905-453A-83B5-75B62B8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DE7D9-5877-4550-9744-7F30E62B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1AF28-4A2A-4B44-B948-E34B8445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Improves hydration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C63D2-7E7F-4A2F-B465-A39F3847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2D49F-FC0E-4E23-8B15-FBBBEAD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AFB7F-591E-40FA-9D4B-66046ABB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Refines skin texture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647E6-3EE2-422D-BDBA-45EC9E4A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AA2DF-1E0A-4D97-AA81-1EAE0CD5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E467C-F3DA-497C-84FB-09101A60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Collagen density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7E0E4-9B10-406D-B11D-D7724210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540DF-B861-4457-A1D7-014CEB75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0D24A-9853-47A6-B7EE-8C41C0F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Joint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86D61-D1FD-45D4-BED9-AE07EDC3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DDBA8-3C4A-46D5-A2C0-97CCD3F9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01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customer can make a quick credibility judgement without scrolling through separate proof modules.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FA228-D8A7-4130-9C6C-BAF1A41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6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This converts claims from background information into a reason to continue.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15025-ABF4-4469-9328-E3BB931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A58AD5-DFF0-4CEE-988A-B08AE82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85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8542"/>
                </a:solidFill>
                <a:latin typeface="Arial"/>
                <a:ea typeface="Arial"/>
                <a:cs typeface="Arial"/>
              </a:rPr>
              <a:t>Claim provenance remains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B9D82-2281-4147-86C1-01510394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844247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48422-5AA2-4686-B207-4525409B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2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single routine state stays consistent across the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EFAC0-6FC6-47EB-BCDE-53B5E673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selected routine drives every price, CTA, sticky control and cart 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A4BDB-6168-4454-AF50-A773D45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8BF7F-8399-4FF8-ABC0-AEE65EBB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FE31E-BE41-422C-BA8C-551F9B6B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Choose 25, 50, 75 or 100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37C50-9B77-43DF-881A-842736F4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AA827-35A6-4FE6-A9A1-EE05D2C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E55E-21F4-4F1A-B9E0-4D6D5783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0D050-6569-4D66-8EA2-840870BC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See the price and daily cost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CAA80-AE49-4D0E-AEF6-E9240A81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11D5A-8827-412F-9C0C-C6505EEE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74D4C-90C4-4344-854D-7853E62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09DDB-6C8F-4F13-BA51-C4096BB0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once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0193C-EB35-4E19-844A-F1C3DEDF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6B215-F487-4324-8AC2-53D8400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8915D-291F-44C5-B479-C8261EE9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30B61-B64E-477E-A094-FB256AF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Adjust quantity in the same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F2D29-E132-4ACC-B396-7705D121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DBB8F-240C-4371-934C-0C25800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AB304-7533-4D93-BA39-CBF37D0E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87BA0-696A-4060-A929-5F72715F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Buy now opens the bag with the selected routine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4E399-62C9-4357-9515-E9ABDDAC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CRO rationale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07D5C-97D0-43AE-A723-40BDBDE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Shoppers should never see one routine selected and another routine reflected in the CTA or cart. State consistency prevents doubt at the moment of purchase.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F58A1-8D7D-4BDD-B349-52CC08C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887223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3C8E6-5678-4A1B-B150-01B8C151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6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Trust and payment friction move into the buying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FA0C0-7434-4EBD-9EA8-FFCB5EB3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A3781-F168-4A49-B2B2-24005375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Pincode before 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1C077-4534-4A9C-91F4-8E22D3B7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Show delivery availability and COD before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7C428-9A19-42FA-8E1D-0605F0DB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E24FC-25D4-4077-B6D2-9E08173B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Payment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EC8DE-3D85-4655-A6CE-E3CA7684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UPI, cards, net banking, wallets and COD use clear symbols.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6CA94-9700-4770-9E73-17A5D65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C6874-EE02-4FD6-89C6-0B52828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Installment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70D3A-7743-4344-B259-0897A668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EMI and cashback appear with eligibility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292D3-B313-46E3-B753-8C5238EF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202B1-D3BD-4D20-9350-CC872EC9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Live stock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7804C-1821-4C34-8A6F-4FE24B56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8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Urgency must connect to inventory rather than a fabricated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EE3B8-B26B-43A9-A775-D3E51DB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457700" cy="35814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11E90-EE26-45E2-801D-F833045E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The purchase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05F83-EDE1-4791-85CF-F31BA247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3486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38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“You will know the delivery option and payment choice before you commit.”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2B605-C24F-4966-A924-920E7646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7D8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7D8D5"/>
                </a:solidFill>
                <a:latin typeface="Arial"/>
                <a:ea typeface="Arial"/>
                <a:cs typeface="Arial"/>
              </a:rPr>
              <a:t>This removes avoidable uncertainty without using deceptive pressure.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2406F-A579-4276-9559-270865EA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830358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658DD-FE22-416F-8A4D-A326342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80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Related products increase basket value after core intent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5F2D4-B6D7-4BF7-9350-EC50E33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first helps a shopper choose Marine Collagen. It then presents relevant, optional additions and similar collagen flavours.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3229F-E976-447D-878D-9DBDE46A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FB358-352D-4042-8F1B-A2A0D0EF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Daily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73E84-9470-4B25-A413-0E0C0B21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Daily Greens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8CC2D-709C-4312-8C01-C1E9B24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₹1,043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23C4A-593D-42E9-8A3B-CB502DEF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3BBA8-9EC5-4923-9D78-FCDD4A9E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17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to bag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B786A-860A-4843-9007-26F06129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DCB7C-78A0-4159-8B17-44D97FB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Popular pairing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A8CD2-B1C9-4A80-8104-7466909D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Healthy Hair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4D330-3CC7-43C1-9505-2BCBB770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₹599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5FF04-F297-48C6-87E4-7AE44DC2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0C0DF-3579-4258-AE48-707CC3C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17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to bag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5669A-19D4-4E9C-ADA2-77BF4B7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91254-0FD2-4720-A79D-999D85A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Similar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4ECCA-6CCA-4DD1-AD49-55646F3E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6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Beauty Collagen Mango Peach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E79AC-28E5-400F-B26B-6E5D6FF0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₹1,939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93E32-C953-46F3-9B22-46E0C68C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2EB85-B849-4AF2-9155-A46869B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17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Buy 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76095-128E-4689-AF7D-F8484C4C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Guardrail: cross-sells must never overwrite the chosen routine or obscure the primary purchase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53521-9094-400C-9FA1-C3A9103F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9953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D07C8-159D-45CA-B022-DF790457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How we would measure whether the redesign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A2902-A765-435C-AD4C-44CCEDD1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5E243-8145-4614-B496-AC8213C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C0A3E-3220-4F8F-A014-04A54168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D66B-BC45-4D9F-81D0-1A6FA2B2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91D55-1FDA-4C34-BC83-1A6B834A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5EECB-22BF-4038-9D47-9E77823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CE3A0-6771-4BD1-89E8-321E7AAF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Product-page purchase 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7857C-4D33-42EA-8D5C-B6F527A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33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3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Completed checkout sessions / eligible product-page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1A9D5-DB84-401C-8767-EE8D5927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EACF4-315E-42DA-B773-7381A84A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Decision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1E81C-18E6-4076-A067-B6BD5954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Routine selection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CE269-A8F4-4023-8C73-9E461469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Visitors choosing a 25, 50, 75 or 100-day routine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208F3-C69A-483D-AA9A-3A8576CE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A5C1A-2039-4FD6-A652-54C72EE4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24B88-70B3-4848-B3A7-13F6FD52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Pincode validation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444E6-F661-40A6-8D36-7E73D72F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86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Visitors who receive a delivery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A3096-2C16-44BB-99E9-F1D36F63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D93D5-C28D-4135-B667-9B389C75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BABA7-10DA-48DA-A59F-02386530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Evidence interaction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1EFA9-ECAF-4F95-BEFE-8367290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623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Clicks on evidence, standards or payment-plan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1B707-3B78-4518-98E8-A1B0F89A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D7D4D-1D60-4748-A4F4-02BE121C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Basket 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40B97-EA73-4AE7-A9BE-C017F764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Relevant add-on attachment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B4309-83A0-4793-ACDF-21EA8794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38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Orders containing a chosen optional 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E2A72-D128-4662-B7C3-E8B7323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No conversion uplift is promised. The proposal defines hypotheses that need controlled A/B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A87E9-56E1-4D15-AC47-7DA605B7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2059188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C2B2A-02B3-4C7E-981A-718AB65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Experiment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525C9-C3F1-405D-B634-A7CC360B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A staged rollout limits risk and produces interpretable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12A4A-62AE-4348-9C67-D3A25DF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3AAA7"/>
          </a:solidFill>
          <a:ln xmlns:a="http://schemas.openxmlformats.org/drawingml/2006/main" w="9525">
            <a:solidFill>
              <a:srgbClr val="13AAA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13721-FCA3-4EA0-81DA-706813D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D313B-7C53-44DB-ABA0-3B5D7F3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Instrument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41463-7515-4519-9E29-C6E8E1B3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Capture routine choice, pincode checks, cart opens, proof interactions and checkout starts.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319A6-D73E-4A94-AB45-5E80F500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ABF31-43F5-4E23-A813-890919D5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F5F18-4E96-495E-B6FF-5A19238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decision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6CE05-66C1-4758-8FE2-1825AC64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Compare the compact benefit grid and proof placement against the current hierarchy.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2AE1A-469B-4993-B4DB-62EB542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22792-E118-4981-A692-6F4AA26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8C0A3-982C-4F3C-850A-67ABF52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buying mechanics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399A2-517F-4F81-8A8A-BF5A5482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Compare routine selection, sticky CTA, payment reassurance and quantity control treatments.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0B4FD-636E-4424-A7B8-FA59E834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FFFBF-2C51-4DD9-90B0-7D9AFC3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8C77F-1110-4F84-B63D-EC54736E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Expand only after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46B71-5C10-4166-9548-36AE7696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Scale cross-sell and financing treatments once core conversion and cancellation signals remain healthy.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14B45-0A68-485E-BB5A-4D8167C5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1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rule: keep variants that improve the primary metric without creating a decline in checkout completion or post-purchase quality.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AA68A-885E-4E11-B008-E817C76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3452147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2FCCC-EC10-473B-92B1-36C99CF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to ship, what to validate, what to govern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34043-8E53-4412-A531-A1CD1233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DFB20-B46B-47D6-882C-FC8AD28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9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Ship in the page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C7EBD-906A-44AC-8E44-AED564B7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Responsive product gallery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Routine state synchronisation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Accessible CTA and quantity controls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Visible payment methods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Relevant product 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7DC97-458D-4EF4-8DB0-44395642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04D09-E75D-44B9-9FEB-34549508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Validate with real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0B3A4-8CB2-480F-8147-E018DBEF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Benefit-grid placement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Default routine and best-value emphasis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Sticky action composition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EMI treatment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Cross-sell 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982FE-31E3-49EF-AD82-13CE0088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371BE-5076-4232-8A56-648FE41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Govern with live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8C401-0711-462B-BC23-2BB89DE1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Inventory count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 and promotional terms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Payment eligibility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Clinical substantiation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Batch and heavy-metal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69959-6F46-4B25-A262-1AD2783F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result is a product page that looks premium because it behaves with clarity, consistency and restraint.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4F979-EE2A-48B8-A88B-6745983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5239344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AA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CC9FF-54D8-46CA-A289-E8B67F5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People do judge a book by its cover.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53398-A6E0-4D20-B0E3-0FD7F533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For this product page, the “cover” must show that the collagen is credible, valuable and simple to buy.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A14A2-E8CC-4156-83EF-8C3F839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72491-E5F1-447E-853D-97EA0EF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redesigned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8E72D-4FAC-4F6D-8FCD-82D13D2D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Makes proof immediate</a:t>
            </a:r>
          </a:p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Makes the next action obvious</a:t>
            </a:r>
          </a:p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Keeps every purchase state consistent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EFEC5-A130-495A-807F-F764055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00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clearer product story gives shoppers a reason to believe before they decide.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B1546-63BA-484A-8314-CA56F8F7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8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Conversion gains remain a hypothesis until live traffic validates the experience.</a:t>
            </a:r>
          </a:p>
        </p:txBody>
      </p:sp>
    </p:spTree>
    <p:extLst>
      <p:ext uri="{BB962C8B-B14F-4D97-AF65-F5344CB8AC3E}">
        <p14:creationId xmlns:p14="http://schemas.microsoft.com/office/powerpoint/2010/main" val="1311263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2026-09-20T13:46:41.0280000Z</dcterms:created>
  <dcterms:modified xsi:type="dcterms:W3CDTF">2026-09-20T13:46:41.0280000Z</dcterms:modified>
</coreProperties>
</file>