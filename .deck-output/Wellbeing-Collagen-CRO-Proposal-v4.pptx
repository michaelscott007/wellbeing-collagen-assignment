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85e75fc13c4503" /><Relationship Type="http://schemas.openxmlformats.org/officeDocument/2006/relationships/extended-properties" Target="/docProps/app.xml" Id="Re91178235ec84e11" /><Relationship Type="http://schemas.openxmlformats.org/officeDocument/2006/relationships/officeDocument" Target="/ppt/presentation.xml" Id="Rb8e138aa40b647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ca239637004ab7"/>
  </p:sldMasterIdLst>
  <p:notesMasterIdLst>
    <p:notesMasterId xmlns:r="http://schemas.openxmlformats.org/officeDocument/2006/relationships" r:id="R8b87e93ce6c243b7"/>
  </p:notesMasterIdLst>
  <p:sldIdLst>
    <p:sldId xmlns:r="http://schemas.openxmlformats.org/officeDocument/2006/relationships" id="256" r:id="R8188090e656e4e03"/>
    <p:sldId xmlns:r="http://schemas.openxmlformats.org/officeDocument/2006/relationships" id="257" r:id="Rfc2fb64bb2924d47"/>
    <p:sldId xmlns:r="http://schemas.openxmlformats.org/officeDocument/2006/relationships" id="258" r:id="R7e369e201e0e42c4"/>
    <p:sldId xmlns:r="http://schemas.openxmlformats.org/officeDocument/2006/relationships" id="259" r:id="R37a628135549462f"/>
    <p:sldId xmlns:r="http://schemas.openxmlformats.org/officeDocument/2006/relationships" id="260" r:id="Rc6aebf0cb4ca479b"/>
    <p:sldId xmlns:r="http://schemas.openxmlformats.org/officeDocument/2006/relationships" id="261" r:id="Rb8824eb065ac4a90"/>
    <p:sldId xmlns:r="http://schemas.openxmlformats.org/officeDocument/2006/relationships" id="262" r:id="Ra35673d64610489d"/>
    <p:sldId xmlns:r="http://schemas.openxmlformats.org/officeDocument/2006/relationships" id="263" r:id="Rfe0c357fe8cc42f9"/>
    <p:sldId xmlns:r="http://schemas.openxmlformats.org/officeDocument/2006/relationships" id="264" r:id="Ra91f3dd051724bd5"/>
    <p:sldId xmlns:r="http://schemas.openxmlformats.org/officeDocument/2006/relationships" id="265" r:id="R0c839ad5176e40b5"/>
    <p:sldId xmlns:r="http://schemas.openxmlformats.org/officeDocument/2006/relationships" id="266" r:id="Ra3b133cedd434ce8"/>
    <p:sldId xmlns:r="http://schemas.openxmlformats.org/officeDocument/2006/relationships" id="267" r:id="R0e2fb5ffd3eb4fee"/>
    <p:sldId xmlns:r="http://schemas.openxmlformats.org/officeDocument/2006/relationships" id="268" r:id="Rc6c424575c2141a6"/>
    <p:sldId xmlns:r="http://schemas.openxmlformats.org/officeDocument/2006/relationships" id="269" r:id="R3d81f7660fdb48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e80052a12f4d11" /><Relationship Type="http://schemas.openxmlformats.org/officeDocument/2006/relationships/slideMaster" Target="/ppt/slideMasters/slideMaster1.xml" Id="Rcaca239637004ab7" /><Relationship Type="http://schemas.openxmlformats.org/officeDocument/2006/relationships/notesMaster" Target="/ppt/notesMasters/notesMaster1.xml" Id="R8b87e93ce6c243b7" /><Relationship Type="http://schemas.openxmlformats.org/officeDocument/2006/relationships/presProps" Target="/ppt/presProps.xml" Id="R951a5e525dd74386" /><Relationship Type="http://schemas.openxmlformats.org/officeDocument/2006/relationships/tableStyles" Target="/ppt/tableStyles.xml" Id="Rf140a0f2f25c4a7b" /><Relationship Type="http://schemas.openxmlformats.org/officeDocument/2006/relationships/slide" Target="/ppt/slides/slide1.xml" Id="R8188090e656e4e03" /><Relationship Type="http://schemas.openxmlformats.org/officeDocument/2006/relationships/slide" Target="/ppt/slides/slide2.xml" Id="Rfc2fb64bb2924d47" /><Relationship Type="http://schemas.openxmlformats.org/officeDocument/2006/relationships/slide" Target="/ppt/slides/slide3.xml" Id="R7e369e201e0e42c4" /><Relationship Type="http://schemas.openxmlformats.org/officeDocument/2006/relationships/slide" Target="/ppt/slides/slide4.xml" Id="R37a628135549462f" /><Relationship Type="http://schemas.openxmlformats.org/officeDocument/2006/relationships/slide" Target="/ppt/slides/slide5.xml" Id="Rc6aebf0cb4ca479b" /><Relationship Type="http://schemas.openxmlformats.org/officeDocument/2006/relationships/slide" Target="/ppt/slides/slide6.xml" Id="Rb8824eb065ac4a90" /><Relationship Type="http://schemas.openxmlformats.org/officeDocument/2006/relationships/slide" Target="/ppt/slides/slide7.xml" Id="Ra35673d64610489d" /><Relationship Type="http://schemas.openxmlformats.org/officeDocument/2006/relationships/slide" Target="/ppt/slides/slide8.xml" Id="Rfe0c357fe8cc42f9" /><Relationship Type="http://schemas.openxmlformats.org/officeDocument/2006/relationships/slide" Target="/ppt/slides/slide9.xml" Id="Ra91f3dd051724bd5" /><Relationship Type="http://schemas.openxmlformats.org/officeDocument/2006/relationships/slide" Target="/ppt/slides/slide10.xml" Id="R0c839ad5176e40b5" /><Relationship Type="http://schemas.openxmlformats.org/officeDocument/2006/relationships/slide" Target="/ppt/slides/slide11.xml" Id="Ra3b133cedd434ce8" /><Relationship Type="http://schemas.openxmlformats.org/officeDocument/2006/relationships/slide" Target="/ppt/slides/slide12.xml" Id="R0e2fb5ffd3eb4fee" /><Relationship Type="http://schemas.openxmlformats.org/officeDocument/2006/relationships/slide" Target="/ppt/slides/slide13.xml" Id="Rc6c424575c2141a6" /><Relationship Type="http://schemas.openxmlformats.org/officeDocument/2006/relationships/slide" Target="/ppt/slides/slide14.xml" Id="R3d81f7660fdb48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493ec60c5d4c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c6a4e9ef0e4d35" /><Relationship Type="http://schemas.openxmlformats.org/officeDocument/2006/relationships/notesMaster" Target="/ppt/notesMasters/notesMaster1.xml" Id="R094fcb04350f4b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e32f2d0fed4d3c" /><Relationship Type="http://schemas.openxmlformats.org/officeDocument/2006/relationships/notesMaster" Target="/ppt/notesMasters/notesMaster1.xml" Id="R1861134319e04e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982bf0fe0d4a80" /><Relationship Type="http://schemas.openxmlformats.org/officeDocument/2006/relationships/notesMaster" Target="/ppt/notesMasters/notesMaster1.xml" Id="R72be7968c65843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f8e28a02334b24" /><Relationship Type="http://schemas.openxmlformats.org/officeDocument/2006/relationships/notesMaster" Target="/ppt/notesMasters/notesMaster1.xml" Id="R14effca50c5a41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9718b6a2394143" /><Relationship Type="http://schemas.openxmlformats.org/officeDocument/2006/relationships/notesMaster" Target="/ppt/notesMasters/notesMaster1.xml" Id="R237fb7caf5e541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adc24ca0834934" /><Relationship Type="http://schemas.openxmlformats.org/officeDocument/2006/relationships/notesMaster" Target="/ppt/notesMasters/notesMaster1.xml" Id="R533446f472c945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7301fd10c64907" /><Relationship Type="http://schemas.openxmlformats.org/officeDocument/2006/relationships/notesMaster" Target="/ppt/notesMasters/notesMaster1.xml" Id="Rb54f64e6bb934b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12b42b4f154cc9" /><Relationship Type="http://schemas.openxmlformats.org/officeDocument/2006/relationships/notesMaster" Target="/ppt/notesMasters/notesMaster1.xml" Id="R53386776626a41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c6ad81471d4157" /><Relationship Type="http://schemas.openxmlformats.org/officeDocument/2006/relationships/notesMaster" Target="/ppt/notesMasters/notesMaster1.xml" Id="Rbfd28309b2cf42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f4aabe656540cf" /><Relationship Type="http://schemas.openxmlformats.org/officeDocument/2006/relationships/notesMaster" Target="/ppt/notesMasters/notesMaster1.xml" Id="R18a9e22ec0184d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396f18b9444072" /><Relationship Type="http://schemas.openxmlformats.org/officeDocument/2006/relationships/notesMaster" Target="/ppt/notesMasters/notesMaster1.xml" Id="Rb48876207ce74f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0d21d4261e44b9" /><Relationship Type="http://schemas.openxmlformats.org/officeDocument/2006/relationships/notesMaster" Target="/ppt/notesMasters/notesMaster1.xml" Id="R650503716c3849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29663d71b44638" /><Relationship Type="http://schemas.openxmlformats.org/officeDocument/2006/relationships/notesMaster" Target="/ppt/notesMasters/notesMaster1.xml" Id="R98b07c56329b4b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01c70dd3734af8" /><Relationship Type="http://schemas.openxmlformats.org/officeDocument/2006/relationships/notesMaster" Target="/ppt/notesMasters/notesMaster1.xml" Id="R5d1a14ff8d6e40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Prototype interaction design. 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Wellbeing Nutrition product page payment and stock widgets observed during assignment review. 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Wellbeing Nutrition catalogue pricing as observed during assignment review. Prices require live validation. 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d2179335424c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26f475e67e4f0a" /><Relationship Type="http://schemas.openxmlformats.org/officeDocument/2006/relationships/slideLayout" Target="/ppt/slideLayouts/slideLayout1.xml" Id="R3561938dbf9544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61938dbf9544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ba2769d0447c1" /><Relationship Type="http://schemas.openxmlformats.org/officeDocument/2006/relationships/image" Target="/ppt/media/image.jpeg" Id="R74defd19592b41f3" /><Relationship Type="http://schemas.openxmlformats.org/officeDocument/2006/relationships/notesSlide" Target="/ppt/notesSlides/notesSlide1.xml" Id="Re2c13261714246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af8005c4d4487" /><Relationship Type="http://schemas.openxmlformats.org/officeDocument/2006/relationships/notesSlide" Target="/ppt/notesSlides/notesSlide2.xml" Id="R92b57761c62a44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a7f64d7534740" /><Relationship Type="http://schemas.openxmlformats.org/officeDocument/2006/relationships/notesSlide" Target="/ppt/notesSlides/notesSlide3.xml" Id="R572ca8683fc14b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6b76d0aa549a5" /><Relationship Type="http://schemas.openxmlformats.org/officeDocument/2006/relationships/notesSlide" Target="/ppt/notesSlides/notesSlide4.xml" Id="Rc6aabcf429204a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56ae223fa4b6a" /><Relationship Type="http://schemas.openxmlformats.org/officeDocument/2006/relationships/notesSlide" Target="/ppt/notesSlides/notesSlide5.xml" Id="R08302844c7aa4c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505d957bd40df" /><Relationship Type="http://schemas.openxmlformats.org/officeDocument/2006/relationships/notesSlide" Target="/ppt/notesSlides/notesSlide6.xml" Id="Rf66fa705ff8845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1475f2a9b4ee3" /><Relationship Type="http://schemas.openxmlformats.org/officeDocument/2006/relationships/notesSlide" Target="/ppt/notesSlides/notesSlide7.xml" Id="R250045bcc61f49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28231fa43410d" /><Relationship Type="http://schemas.openxmlformats.org/officeDocument/2006/relationships/notesSlide" Target="/ppt/notesSlides/notesSlide8.xml" Id="Rb51e36dd548048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ee95f62d047aa" /><Relationship Type="http://schemas.openxmlformats.org/officeDocument/2006/relationships/notesSlide" Target="/ppt/notesSlides/notesSlide9.xml" Id="R305ce15cf6fa4c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6bc4ed6e24453" /><Relationship Type="http://schemas.openxmlformats.org/officeDocument/2006/relationships/notesSlide" Target="/ppt/notesSlides/notesSlide10.xml" Id="R8c721de6764448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4429e68cc464b" /><Relationship Type="http://schemas.openxmlformats.org/officeDocument/2006/relationships/notesSlide" Target="/ppt/notesSlides/notesSlide11.xml" Id="R9998e493a99a40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e6130d5c84248" /><Relationship Type="http://schemas.openxmlformats.org/officeDocument/2006/relationships/notesSlide" Target="/ppt/notesSlides/notesSlide12.xml" Id="R44f00654f1b54e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b7e94a1ad4961" /><Relationship Type="http://schemas.openxmlformats.org/officeDocument/2006/relationships/notesSlide" Target="/ppt/notesSlides/notesSlide13.xml" Id="R59b0b46571c441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65676ac134407" /><Relationship Type="http://schemas.openxmlformats.org/officeDocument/2006/relationships/notesSlide" Target="/ppt/notesSlides/notesSlide14.xml" Id="Rbf6b96394ab14f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8DEF2-445B-43D6-9C9B-DAADFDF4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E9656-7EAA-438D-BA74-E0AB4C43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691E7-4936-4872-B9A0-A82317AD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7315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4058A-47FA-4B0C-9863-11A09253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Wellbeing Nutrition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9DD5B-0365-4CD0-916A-87A88744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People do judge</a:t>
            </a:r>
          </a:p>
          <a:p xmlns:a="http://schemas.openxmlformats.org/drawingml/2006/main">
            <a:pPr algn="l">
              <a:defRPr sz="42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 book by</a:t>
            </a:r>
          </a:p>
          <a:p xmlns:a="http://schemas.openxmlformats.org/drawingml/2006/main">
            <a:pPr algn="l">
              <a:defRPr sz="42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its 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8B2FD-2A51-4D01-B905-23106B13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A conversion rate optimisation proposal for Korean Marine Collagen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6D1B9-7E73-4161-852E-7B759744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A product page that earns belief before it asks for a purchase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efd19592b41f3"/>
          <a:stretch xmlns:a="http://schemas.openxmlformats.org/drawingml/2006/main"/>
        </p:blipFill>
        <p:spPr>
          <a:xfrm xmlns:a="http://schemas.openxmlformats.org/drawingml/2006/main">
            <a:off x="6572250" y="1114425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745D7-D88C-4B8C-8BC8-289489D8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76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98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C7DED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7DEDA"/>
                </a:solidFill>
                <a:latin typeface="Arial"/>
                <a:ea typeface="Arial"/>
                <a:cs typeface="Arial"/>
              </a:rPr>
              <a:t>CRO proposal ·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894214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ABC138-EBC7-43F2-85B7-3270DFEE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What the current product page already does well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34C3A-4E5B-444C-8D61-3FEF6749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CRO proposal keeps these existing assets and presents them closer to the buying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386E1-610D-49FE-AFC3-241D3668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1625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549AE-65AB-4991-981C-F1386BDF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0AAB7-FD18-4821-96A1-E5BC5585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Credible product 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495F1-3350-42B1-97B1-05EC59B1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Korean marine collagen, ingredient cues and specific product facts give the page a strong foundation.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463F4-0454-44BF-8424-647FFC68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51625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603E6-F7F5-47C4-9A3C-B7F91CDC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19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8CDDF-CEF1-4D7B-A814-2C11499C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Relevant proof assets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1651E-EBEA-441F-B9D0-C1DDE35C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page contains a 4.74 rating, clinical-study references, benefit claims and product standards.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C874D-0415-4491-BB16-28F0224C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625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2AF4D-1421-4693-9E64-B3F85431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E1C59-9A5A-4F4D-8F8F-8A3FAE08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Indian payment relevance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E4D4E-4CF2-422F-9D03-A3D25A3A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7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UPI, COD, EMI and cashback cues address familiar ways to pay.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1E4E6-C254-4995-9EC2-00BEDA73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51625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9DEFF-F3B0-40B7-A192-5FD36791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199DF-FF07-440F-9CCA-92EE893A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910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 broader wellness catalogue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17A45A-6DC0-4BCE-854C-EEA6D68F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720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Related products create a genuine opportunity for relevant discovery after the core choice.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E446D-8410-418E-BB53-3C1A5D9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05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recommendation improves hierarchy and interaction design. It does not discard the brand’s existing evidence base.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B00D0-4155-4FFD-B83B-21B304E3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1684491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9C33D-240C-441F-A8AD-61A955BA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conversion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B0F0F-C3A0-4CB1-8757-08923A04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205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product has credible reasons to buy. The page makes shoppers work too hard to find, trust and act on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C23F1-E3A8-406D-BA60-7E43AF4D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278E4-508B-4081-A169-1478E1A2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A6856-B87E-4E5E-BB31-03DF228C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Belief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5A346-B0BD-4CBD-8049-BE31E6CB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Claims, proof and product cues sit too far apart.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D894C-4858-45E3-B951-495F6022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766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2C3D3-BBB6-41D2-9174-490B2A62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76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253DE-B7BC-4B9D-8B28-4D333E25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Effort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6B60A-C4A1-42FE-A49D-DC537B80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053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Routine, payment and delivery decisions feel fragmented.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85306-543C-4D5A-A992-97AAAF21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766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1593B-8695-48FA-9E36-373607EA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76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3B5F24-BD2B-4FD2-8E6F-D1237508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67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14B19-49DB-44BB-9662-6D712CAF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97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page needs a calmer, premium signal at every buying moment.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133F82-7C34-424F-99BB-D445D40C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opportunity: translate product credibility into a quick, low-friction decision.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10924-D4F3-49C1-9FC6-5310FF71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855290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299E87-D678-4F86-8244-DD9EC500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What needs to change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8CA40-40E1-4C7A-AC21-64FDAD55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Observed on the current product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A96D0-8E56-4526-A4C1-6A263128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FCF9E-97C4-4F66-9AE0-0CC8455B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62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proof is scattered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12C4F-9193-41EE-AD14-47B677AE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0500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Benefits, ratings, clinical claims and product standards appear across separate moments.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1EA8E-3CC4-433E-8FD0-B9D1E075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69965-450A-4E4F-B6F0-5074DB02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B54BB-046F-4E33-A1C1-7EEEACDD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purchase area asks too much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A3E05-FB12-49D5-9DFA-CF5466CE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Price, pack choice, delivery and payment options compete for attention.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329B6-0827-4882-9DF5-83B6384D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5163C-FB43-4CDA-9A77-E58B8EFD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A5EDB-74E9-4403-AA9A-32807AFF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5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mobile experience feels dense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40187-C37E-4670-AD33-9371BB4F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3860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Sticky actions and controls need clearer states and more dependable touch space.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79779-6C6B-46FA-B3A9-210E61FF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06D43-E3FF-4EDA-B7A9-D9AEF45C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41DC5-1A61-4B72-A31F-41049896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Related products arrive without a decision frame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F5F3E-DC79-4BCC-8602-ADFB033B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0540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They can distract unless they appear after the core product choice.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D6A87F-356E-4245-9F32-C134DC88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24C77-8AC4-402B-BA55-E6A0BFA2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1237532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5627F9-71F6-428D-8DBA-28AE4ECE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99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decision sequence for an Indian wellness shopper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7D285-8F63-43F5-AEB2-5F2B75FB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page should answer the questions in the order shoppers naturally ask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8168C-BBE3-45E3-9ECB-E984AE67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381250" cy="29908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A1818"/>
          </a:solidFill>
          <a:ln xmlns:a="http://schemas.openxmlformats.org/drawingml/2006/main" w="9525">
            <a:solidFill>
              <a:srgbClr val="1A18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C55A2-1351-417B-9D02-032DC7FD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F4FC9-A87B-4DC7-BC3F-1131FF68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 this credible?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FA1DA-7D5C-4B33-AC22-E5A9667A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8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ED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EDB"/>
                </a:solidFill>
                <a:latin typeface="Arial"/>
                <a:ea typeface="Arial"/>
                <a:cs typeface="Arial"/>
              </a:rPr>
              <a:t>Rating, ingredient standard and plain-language benefits appear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D37B3-DE0D-4AF9-8A6D-4D78C5DC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62150"/>
            <a:ext cx="2381250" cy="29908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4FAF9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1A6E6-4D52-4CFE-AD2A-8C2DB5E4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907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B1EC1-EE14-4EE9-9DD6-BB69C0AB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43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Is it worth 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5C4C4-BF7A-4994-BD1F-9349D19F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6710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Price per day, routine value and payment choice reduce the perceived jump.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8199E-EF90-4777-AD16-8225FD23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62150"/>
            <a:ext cx="2381250" cy="29908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4FAF9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3A207-5789-4314-82EC-A8A2C827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2E95E-5676-4C74-99D5-FDCB2931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43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Can I get it?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0FA0F-B5A9-4380-9011-F76D805A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Pincode, delivery estimate, UPI, cards and COD remove checkout uncertainty.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AAD9E-2B22-4926-A784-0969164A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62150"/>
            <a:ext cx="2381250" cy="29908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4FAF9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3384CE-DC99-486E-A6FB-DDD852BA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44DAD6-3302-43D0-9701-21E604F2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43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What else fits?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C9FE5-8A55-4364-9B60-7DA30590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Relevant additions appear only after the core product decision.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FB3CF9-2BF9-4077-B981-AEFEBB64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This structure makes the buying choice feel earned, not forced.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4C5AE7-586E-4ABD-BAF3-746F250A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1760319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A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56DA6-6C0E-4059-A43A-8B39C423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redesigned page puts proof at the point of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1F275-B483-4319-B661-46816ED8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8D9D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D9D6"/>
                </a:solidFill>
                <a:latin typeface="Arial"/>
                <a:ea typeface="Arial"/>
                <a:cs typeface="Arial"/>
              </a:rPr>
              <a:t>A premium, clinical layout leads with product confidence and protects focus.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49CD32-C783-4AD8-95C2-11014B7F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4003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242423"/>
          </a:solidFill>
          <a:ln xmlns:a="http://schemas.openxmlformats.org/drawingml/2006/main" w="9525">
            <a:solidFill>
              <a:srgbClr val="40403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40E2E-B909-4A1B-94A2-4639A641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2DAAF-ED5B-476B-A11D-C7BF6A51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Gallery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64E27-CF47-4065-8D5E-79766233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0D7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0D7D5"/>
                </a:solidFill>
                <a:latin typeface="Arial"/>
                <a:ea typeface="Arial"/>
                <a:cs typeface="Arial"/>
              </a:rPr>
              <a:t>Swipeable product and evidence imagery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89439-D7B6-425C-857C-FF89F533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05000"/>
            <a:ext cx="24003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13AAA7"/>
          </a:solidFill>
          <a:ln xmlns:a="http://schemas.openxmlformats.org/drawingml/2006/main" w="9525">
            <a:solidFill>
              <a:srgbClr val="13AA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2EFBE-4BE2-40A5-9FB7-BE71C6BB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FDBB9-D556-46D7-9807-B3DB0A98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Belief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F4F4F-995B-4812-8623-BF290BBB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43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4.74 rating, six benefit icons, standards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311B7-F732-46B8-AAA3-2C5D43A2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24003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242423"/>
          </a:solidFill>
          <a:ln xmlns:a="http://schemas.openxmlformats.org/drawingml/2006/main" w="9525">
            <a:solidFill>
              <a:srgbClr val="4040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DE4D6-0209-41B8-A0BF-5F2D3524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493BC-D465-42C8-9AEC-A57BCD1B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2E7E7-D82B-4D5C-AF87-5F5B93FD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0D7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0D7D5"/>
                </a:solidFill>
                <a:latin typeface="Arial"/>
                <a:ea typeface="Arial"/>
                <a:cs typeface="Arial"/>
              </a:rPr>
              <a:t>Price, routine choice, pincode and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9BA3E-9186-4F5D-9BD6-5A0A7EE2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05000"/>
            <a:ext cx="24003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242423"/>
          </a:solidFill>
          <a:ln xmlns:a="http://schemas.openxmlformats.org/drawingml/2006/main" w="9525">
            <a:solidFill>
              <a:srgbClr val="4040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B3597-420B-4C76-B68C-9BCEE07D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14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1BC62-8924-486D-92C6-890E73A6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09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C83C5-7993-4651-A00A-B50EB1FF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43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07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0D7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0D7D5"/>
                </a:solidFill>
                <a:latin typeface="Arial"/>
                <a:ea typeface="Arial"/>
                <a:cs typeface="Arial"/>
              </a:rPr>
              <a:t>Payment methods, evidence, objections and related products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6DB37-6B1F-46E2-97F5-9112739F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block has one job: reduce uncertainty or make the next action obvious.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090A6B-A2C5-4C84-B801-36B4EB70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16855115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DA8135-208B-4FE5-96C2-26A76862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Evidence now appears before the price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EA0EB-EFC9-4917-B3F2-936A9C85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redesigned buy box groups rating, benefits and product standards together.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57A38-E6C1-4B03-AC80-88CF36A5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200650" cy="4057650"/>
          </a:xfrm>
          <a:prstGeom xmlns:a="http://schemas.openxmlformats.org/drawingml/2006/main" prst="roundRect">
            <a:avLst>
              <a:gd name="adj" fmla="val 4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E5F5B-3B30-42C4-A820-9522BA1A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Pure Korean Marine Collagen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F57C2-5EBE-45A3-A017-340C446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4.74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E8324-E284-4491-95F0-9AF7975F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908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83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8300"/>
                </a:solidFill>
                <a:latin typeface="Arial"/>
                <a:ea typeface="Arial"/>
                <a:cs typeface="Arial"/>
              </a:rPr>
              <a:t>★★★★★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212FC-5274-4E24-BE20-4F695B6C4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956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98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From 571 verified buyers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266EA-1D16-4D4E-9B8A-6F307539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3430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9525">
            <a:solidFill>
              <a:srgbClr val="CFE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03DE3-A704-41A2-AEA4-F3D91DED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9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D28B9-977B-4282-93CC-5738AE9D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0520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546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Reduce signs of ageing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5DA94-8D9B-47AD-A313-566B54CA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333750"/>
            <a:ext cx="13430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9525">
            <a:solidFill>
              <a:srgbClr val="CFE5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545F3-34E2-4A04-8DAF-404B998C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505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9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44F4F-54A0-4BE9-A558-137691CB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0520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Firmness &amp; elasticity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6F431-1CE6-4BE8-B789-41D15AF7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33750"/>
            <a:ext cx="13430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9525">
            <a:solidFill>
              <a:srgbClr val="CFE5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444FB-1884-420F-950C-8928FFC5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05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9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7D161-B30C-486A-99DE-CC9EBB2E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0520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Improves hydration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732F5-790C-4BA3-9057-C2D5501D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3430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9525">
            <a:solidFill>
              <a:srgbClr val="CFE5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BFD1A-BB2D-4B37-BFF3-7484F413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9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480F6A-0E9E-4644-B76C-8C4E87BA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0055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Refines skin texture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B2F319-313A-4DFC-8998-579B4264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229100"/>
            <a:ext cx="13430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9525">
            <a:solidFill>
              <a:srgbClr val="CFE5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08F20-2F52-4E0B-9AE7-B0733B53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400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9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5B00F5-8CBC-4CD7-93F0-3423F8EB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40055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Collagen density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F7056F-D395-4E97-828F-E262A3DF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29100"/>
            <a:ext cx="13430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9525">
            <a:solidFill>
              <a:srgbClr val="CFE5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9520B0-AC87-41A2-A635-55267F85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00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92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60E0A1-1819-45ED-94D4-F82BF69B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Joint health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70C2E5-D4C0-4CC4-9DEE-2FECC782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Why it helps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A83301-1D5B-4222-9729-3D2738A4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01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44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customer can make a quick credibility judgement without scrolling through separate proof modules.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39C73B-0C46-49B4-8BEC-C15D53F0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6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This converts claims from background information into a reason to continue.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CFACAB-F5EB-4494-824A-F39B893C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2343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B782E5-E09B-443E-830B-8FA015F9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2343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854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8542"/>
                </a:solidFill>
                <a:latin typeface="Arial"/>
                <a:ea typeface="Arial"/>
                <a:cs typeface="Arial"/>
              </a:rPr>
              <a:t>Claim provenance remains visible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AF35FA-03AF-426C-91A5-D98A5BF2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16246884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0392C4-8CFA-4B0C-BAF4-FD2466E3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28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 single routine state stays consistent across the page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DFB30-7181-4191-BC0C-73C07F4A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selected routine drives every price, CTA, sticky control and cart 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10619-E11B-457F-BC63-39A9B8E0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809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28587-2D5A-4282-B289-6EFCDF68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70FAA-5173-47A5-AC35-DFBE766F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Choose 25, 50, 75 or 100 days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671AE-67C8-4A9F-A4BF-E2BAD971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57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56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669E4-718A-4E7E-B794-34E62EE8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57450"/>
            <a:ext cx="1809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4FAF9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78DA0-2E46-4BB0-8D98-04D7C730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7369E-BA35-4F4C-9884-1D32443A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22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See the price and daily cost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51CB8-E55E-4AF9-BF6C-E86963FA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57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56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BEAF7-922E-494A-8E02-1D3B2A93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57450"/>
            <a:ext cx="1809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E3BBC-8BF4-4A69-B24F-67D12065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A4E85-F0EA-47B2-A9D8-828F482B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Add once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F7156-548F-49EB-B85D-50CC9467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57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56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E0019-380E-4F04-AF0E-5E6E5EAC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1809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4FAF9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8B1521-1B5B-4D94-816B-141522A4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00FA4-DD9B-45CD-B066-65F397E7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480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22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Adjust quantity in the same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59F5E-6834-4362-8151-9750D942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57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56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2403A-C42F-4870-ACC8-23FA7135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57450"/>
            <a:ext cx="1809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2DC2BB-B196-405B-9D28-373F2BA8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2058A1-F357-4CAA-94F9-3676F481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480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22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Buy now opens the bag with the selected routine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5C8A9E-4D7A-4A5C-A9F2-5FF38C67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CRO rationale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B58B15-139B-465C-83D4-E3DED47E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1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Shoppers should never see one routine selected and another routine reflected in the CTA or cart. State consistency prevents doubt at the moment of purchase.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1D760D-F163-4C37-A685-F3ED2D3F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6280336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3F552-C1F0-4E96-9674-0B543800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264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Trust and payment friction move into the buying moment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E6DC0-FF19-44E5-A0AD-BF5F7257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6C170-1241-4F64-BF8B-2161769E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621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Pincode before checkout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74EBB-DAD0-40F7-A0BE-688CAA92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859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80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Show delivery availability and COD before payment.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0436D-190C-4CCF-8CA4-CCDF744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0A359-3190-4570-84DE-07694140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52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Payment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E7402-B66D-40EF-8796-338E588A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8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UPI, cards, net banking, wallets and COD use clear symbols.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1F87F-859B-4016-8C26-8526B9C6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D20882-162A-418F-8AEA-64E1779E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Installment clarity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AC6FF-826D-4931-A696-28613A13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41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EMI and cashback appear with eligibility conditions.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CEE0A-4365-4CC0-AB98-91F0204B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AB9A4-2F3C-49F7-A932-E423A775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Live stock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9019A-9C61-411F-96E8-86AA93E7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80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Urgency must connect to inventory rather than a fabricated number.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D30B4-5D04-40E2-A89D-771BF39C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62100"/>
            <a:ext cx="4457700" cy="3581400"/>
          </a:xfrm>
          <a:prstGeom xmlns:a="http://schemas.openxmlformats.org/drawingml/2006/main" prst="roundRect">
            <a:avLst>
              <a:gd name="adj" fmla="val 4787"/>
            </a:avLst>
          </a:prstGeom>
          <a:solidFill xmlns:a="http://schemas.openxmlformats.org/drawingml/2006/main">
            <a:srgbClr val="1A1818"/>
          </a:solidFill>
          <a:ln xmlns:a="http://schemas.openxmlformats.org/drawingml/2006/main" w="9525">
            <a:solidFill>
              <a:srgbClr val="1A18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07A8B-B236-4CF3-BAEB-52B7B418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24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The purchase promise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CDD0C1-4828-40C2-BEED-36B3A423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00300"/>
            <a:ext cx="3486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38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“You will know the delivery option and payment choice before you commit.”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FE6F2-7D58-42C8-932B-E05FF03C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624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053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7D8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7D8D5"/>
                </a:solidFill>
                <a:latin typeface="Arial"/>
                <a:ea typeface="Arial"/>
                <a:cs typeface="Arial"/>
              </a:rPr>
              <a:t>This removes avoidable uncertainty without using deceptive pressure.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B928E-286A-433F-B4A8-875B5ED0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2605863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291FA4-CC77-411B-8368-7A81EF8B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804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Related products increase basket value after core intent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6CF7C-DF4F-4384-AE22-46610357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page first helps a shopper choose Marine Collagen. It then presents relevant, optional additions and similar collagen flavours.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A3E5B-F9D3-499F-8A3E-DBAC75EA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238500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189FB-FAC0-4730-A338-15E640A5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98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Daily nutrition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3C71C-5128-49E3-ADE1-402265AC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Daily Greens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F18F0-0C62-490C-996F-BF2CD506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₹1,043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0EF68-FAC3-474F-A7C8-5EF8196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13335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A181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C37D7-C4D5-4818-A9E6-BA9B2A62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17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Add to bag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427212-9E01-49C8-B5CA-F4FEEE35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238500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A8074-813E-4E34-8C8E-8C1D79E9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98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Popular pairing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A3166-FDC4-44CD-B655-F11DDA42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Healthy Hair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9D9C2-4E9B-4BF7-B2E8-532B3FEF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₹599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036F37-8525-404F-915B-40B664F3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24300"/>
            <a:ext cx="13335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A18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2C93E-92FD-4CC2-92E5-549B0D00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17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Add to bag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C4397-C516-4BC8-B5B3-7AC3EFF6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0250"/>
            <a:ext cx="3238500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D5338-B688-40FD-A0F7-79A69B50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098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Similar product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AD21EF-988E-4D11-8D69-D60A7663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63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Beauty Collagen Mango Peach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177D4-7B55-465B-903D-8D30B08E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₹1,939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A2BED6-777D-414B-B5A7-F3AD3A48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13335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A1818"/>
          </a:solidFill>
          <a:ln xmlns:a="http://schemas.openxmlformats.org/drawingml/2006/main" w="9525">
            <a:solidFill>
              <a:srgbClr val="1A18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BE12EA-81A6-49B8-92B3-92008067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17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Buy now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C34A3E-DD98-475C-8AE8-8292B8A0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Guardrail: cross-sells must never overwrite the chosen routine or obscure the primary purchase action.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0BDC38-E88C-4600-8F9A-82CB96A0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3154284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5ABB68-64D0-4A78-B7E8-0AAD521D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How we would measure whether the redesign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907AD-E322-4EA9-BE3F-4F49CCC1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323850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F16A5-4199-4B78-8B12-832B160B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E21B9-17C8-4025-BFB0-0E30EA25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68643-E333-4171-83B9-E389ECBC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84FB1-EDCE-4B8B-B83E-CA4BA2AA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05233-E699-4F53-8550-05B13FCA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Primary 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B093D-F0DE-4F71-B0F7-A5DB3ED0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Product-page purchase conversion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BF8F6E-657D-43C4-8937-DF4A96AF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336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337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Completed checkout sessions / eligible product-page 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9639C-5ABC-4CBB-A9AD-436ECCEB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F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FAAAE-29F5-465C-8A84-6284A904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Decision quality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DB451-5AED-4764-96F8-3711A980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987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Routine selection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47334-DFDF-4BCC-B799-B65D287F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098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Visitors choosing a 25, 50, 75 or 100-day routine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F0C81-033D-476D-A99D-50ACFB97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F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F2AD5-725C-4641-B5BD-01BD0012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Friction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FC407-1320-4B52-B2FD-D5906BD2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Pincode validation completion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6DDD8C-2550-4274-AB89-33CA7E28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861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Visitors who receive a delivery answer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93D5B5-B9E8-4E08-BD3C-B9DDD7D6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C044E-4C79-4319-BA4B-EE7348F6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5E86B-A854-4D46-A172-F4DDA3C5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6237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Evidence interaction 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C1C48-F9EA-4ECD-B983-E1D49F6B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623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80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Clicks on evidence, standards or payment-plan detail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108D4-0155-4327-B8C1-3BDCBE95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C994E7-A227-4B72-8520-19C755E2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Basket growth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BCF23E-16E6-4925-B33A-34E70E02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386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Relevant add-on attachment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833B62-3901-4665-AA94-1F255680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386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Orders containing a chosen optional product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608A56-7720-4FB2-B68A-5BC684A5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No conversion uplift is promised. The proposal defines hypotheses that need controlled A/B validation.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00E812-0C0B-4727-8614-12DABFF4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20880560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A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A7DA1D-B1E6-4DAE-BA02-0504E77D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Experiment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4FCC7-E6A1-4AE4-8A2E-24AE8ACE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A staged rollout limits risk and produces interpretable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BA262-E99F-4071-A38C-56D8C4F1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81250" cy="2952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3AAA7"/>
          </a:solidFill>
          <a:ln xmlns:a="http://schemas.openxmlformats.org/drawingml/2006/main" w="9525">
            <a:solidFill>
              <a:srgbClr val="13AAA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87589-A4D5-49E3-B205-E36E0721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23C11-B6D5-4B37-89C3-D1C32386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Instrument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E6030-4E03-4A06-8370-A6CA74E0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Capture routine choice, pincode checks, cart opens, proof interactions and checkout starts.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CCC4B-1497-41D6-8761-28616599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381250" cy="2952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242423"/>
          </a:solidFill>
          <a:ln xmlns:a="http://schemas.openxmlformats.org/drawingml/2006/main" w="9525">
            <a:solidFill>
              <a:srgbClr val="3D3D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384B7-A82F-4BB8-97A5-B2872011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383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C2D72-A898-42E9-9203-0B088A47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43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the decision zone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29BD6-B844-4C54-91B9-365B0AE1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670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CD7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CD7D5"/>
                </a:solidFill>
                <a:latin typeface="Arial"/>
                <a:ea typeface="Arial"/>
                <a:cs typeface="Arial"/>
              </a:rPr>
              <a:t>Compare the compact benefit grid and proof placement against the current hierarchy.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1E9B2-A464-4DDD-B41A-A7D1FD47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381250" cy="2952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242423"/>
          </a:solidFill>
          <a:ln xmlns:a="http://schemas.openxmlformats.org/drawingml/2006/main" w="9525">
            <a:solidFill>
              <a:srgbClr val="3D3D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F53EC-5866-4F47-8BA6-616B7AEE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B9556-C5A6-4217-B568-9409743A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43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1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the buying mechanics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A705B-1A9D-445D-A168-5243C86B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CD7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CD7D5"/>
                </a:solidFill>
                <a:latin typeface="Arial"/>
                <a:ea typeface="Arial"/>
                <a:cs typeface="Arial"/>
              </a:rPr>
              <a:t>Compare routine selection, sticky CTA, payment reassurance and quantity control treatments.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B9753-9ABA-4AE3-9F22-1EC48B06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381250" cy="2952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242423"/>
          </a:solidFill>
          <a:ln xmlns:a="http://schemas.openxmlformats.org/drawingml/2006/main" w="9525">
            <a:solidFill>
              <a:srgbClr val="3D3D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4502B-DD8F-4E9B-A6F4-FA33D0C1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9AF862-B745-4338-89AC-3835D2FF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43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Expand only after 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B9C62F-BD49-4BAE-87E4-5690A8A8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670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587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CD7D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CD7D5"/>
                </a:solidFill>
                <a:latin typeface="Arial"/>
                <a:ea typeface="Arial"/>
                <a:cs typeface="Arial"/>
              </a:rPr>
              <a:t>Scale cross-sell and financing treatments once core conversion and cancellation signals remain healthy.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C2D69-E9BE-4222-A074-34B67C86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16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rule: keep variants that improve the primary metric without creating a decline in checkout completion or post-purchase quality.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5661F-E507-4B3D-8878-8B92D998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14117971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8EFDA-6112-4C32-B73D-11505554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What to ship, what to validate, what to govern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1B304-33C4-4F04-A7F5-BDB36E9A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57550" cy="34671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937F4-AA7F-4A96-9EA6-58DFE5AD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91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Ship in the page foundation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511A8-627C-4A5D-8609-21EE4AD7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571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Responsive product gallery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Routine state synchronisation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Accessible CTA and quantity controls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Visible payment methods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Relevant product discovery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E9631-5209-43B3-B1D0-D726C353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14500"/>
            <a:ext cx="3257550" cy="34671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4FAF9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7F37E-A237-4443-B798-F04885DF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Validate with real traffic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8D4220-BD4A-4C9E-8C84-40422590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43200"/>
            <a:ext cx="2571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Benefit-grid placement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Default routine and best-value emphasis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Sticky action composition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EMI treatment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Cross-sell placement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565C7-4B17-43DD-85FB-E1FC8C16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3257550" cy="34671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5F3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BCC9E-3A20-4112-A145-EBC3D2D5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812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Govern with live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15CA4-94F9-4138-8E5B-52876AF5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2571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Inventory count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Price and promotional terms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Payment eligibility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Clinical substantiation</a:t>
            </a:r>
          </a:p>
          <a:p xmlns:a="http://schemas.openxmlformats.org/drawingml/2006/main">
            <a:pPr algn="l">
              <a:defRPr sz="15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Batch and heavy-metal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F243E-5397-4572-BA20-0AE9C0F3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result is a product page that looks premium because it behaves with clarity, consistency and restraint.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10824-5719-4D15-BAEA-BB55A85B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</p:spTree>
    <p:extLst>
      <p:ext uri="{BB962C8B-B14F-4D97-AF65-F5344CB8AC3E}">
        <p14:creationId xmlns:p14="http://schemas.microsoft.com/office/powerpoint/2010/main" val="3595004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3AAA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8A70A-87E3-4D88-A7AD-A750A25D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People do judge a book by its cover.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477A0-7B61-4CBA-9826-89F217F9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For this product page, the “cover” must show that the collagen is credible, valuable and simple to buy.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9DF26-5824-4CB7-B9D8-E9900FE2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87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1D46E-BD94-451C-BB94-A9530DBC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redesigned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8CF99-97E4-45C0-A779-043CF1A6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191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Makes proof immediate</a:t>
            </a:r>
          </a:p>
          <a:p xmlns:a="http://schemas.openxmlformats.org/drawingml/2006/main">
            <a:pPr algn="l">
              <a:defRPr sz="18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Makes the next action obvious</a:t>
            </a:r>
          </a:p>
          <a:p xmlns:a="http://schemas.openxmlformats.org/drawingml/2006/main">
            <a:pPr algn="l">
              <a:defRPr sz="18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Keeps every purchase state consistent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F7B69-59FE-491F-8192-36EDB970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FC265-6FBE-4206-856E-B2A56504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346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wellbeing-collagen-cro-lab.woodsy-earth-4335.chatgpt.site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9FC2D-0541-423A-A462-5E8A2688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00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9FB78-E77C-4C7E-B298-A219D180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346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github.com/Michaelscott007/WELLBEING-COLLAGEN-assignment</a:t>
            </a:r>
          </a:p>
        </p:txBody>
      </p:sp>
    </p:spTree>
    <p:extLst>
      <p:ext uri="{BB962C8B-B14F-4D97-AF65-F5344CB8AC3E}">
        <p14:creationId xmlns:p14="http://schemas.microsoft.com/office/powerpoint/2010/main" val="1999701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2026-09-20T13:35:18.2950000Z</dcterms:created>
  <dcterms:modified xsi:type="dcterms:W3CDTF">2026-09-20T13:35:18.2950000Z</dcterms:modified>
</coreProperties>
</file>